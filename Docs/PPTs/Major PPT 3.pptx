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94" r:id="rId2"/>
    <p:sldId id="271" r:id="rId3"/>
    <p:sldId id="272" r:id="rId4"/>
    <p:sldId id="274" r:id="rId5"/>
    <p:sldId id="275" r:id="rId6"/>
    <p:sldId id="276" r:id="rId7"/>
    <p:sldId id="286" r:id="rId8"/>
    <p:sldId id="287" r:id="rId9"/>
    <p:sldId id="280" r:id="rId10"/>
    <p:sldId id="288" r:id="rId11"/>
    <p:sldId id="289" r:id="rId12"/>
    <p:sldId id="290" r:id="rId13"/>
    <p:sldId id="291" r:id="rId14"/>
    <p:sldId id="292" r:id="rId15"/>
    <p:sldId id="293" r:id="rId16"/>
    <p:sldId id="296" r:id="rId17"/>
    <p:sldId id="270" r:id="rId18"/>
    <p:sldId id="29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AC5735-7105-4A18-B468-5DF3FAE4C5DB}">
          <p14:sldIdLst>
            <p14:sldId id="294"/>
            <p14:sldId id="271"/>
            <p14:sldId id="272"/>
            <p14:sldId id="274"/>
            <p14:sldId id="275"/>
            <p14:sldId id="276"/>
            <p14:sldId id="286"/>
            <p14:sldId id="287"/>
            <p14:sldId id="280"/>
            <p14:sldId id="288"/>
            <p14:sldId id="289"/>
            <p14:sldId id="290"/>
            <p14:sldId id="291"/>
            <p14:sldId id="292"/>
            <p14:sldId id="293"/>
            <p14:sldId id="296"/>
            <p14:sldId id="270"/>
            <p14:sldId id="2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F00"/>
    <a:srgbClr val="DD8709"/>
    <a:srgbClr val="B3C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1961" autoAdjust="0"/>
  </p:normalViewPr>
  <p:slideViewPr>
    <p:cSldViewPr snapToGrid="0">
      <p:cViewPr varScale="1">
        <p:scale>
          <a:sx n="76" d="100"/>
          <a:sy n="76" d="100"/>
        </p:scale>
        <p:origin x="792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BB41F8-1C9C-4EB0-96A2-61FB8F43FB9E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IN"/>
        </a:p>
      </dgm:t>
    </dgm:pt>
    <dgm:pt modelId="{835659B2-67FC-4C8C-9434-6F99AED8A0C1}">
      <dgm:prSet custT="1"/>
      <dgm:spPr/>
      <dgm:t>
        <a:bodyPr/>
        <a:lstStyle/>
        <a:p>
          <a:pPr algn="just"/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Escalating academic, social, and relationship stress among youth triggers impulsive reactions, anxiety, and depression.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89F50D7-637C-4738-A3AE-0577C1758F20}" type="parTrans" cxnId="{B8D42117-D9AD-4804-B8EB-8CADC0D65066}">
      <dgm:prSet/>
      <dgm:spPr/>
      <dgm:t>
        <a:bodyPr/>
        <a:lstStyle/>
        <a:p>
          <a:endParaRPr lang="en-IN"/>
        </a:p>
      </dgm:t>
    </dgm:pt>
    <dgm:pt modelId="{2D0EF0D4-732F-47A6-B4A9-FF68DA1971FC}" type="sibTrans" cxnId="{B8D42117-D9AD-4804-B8EB-8CADC0D65066}">
      <dgm:prSet/>
      <dgm:spPr/>
      <dgm:t>
        <a:bodyPr/>
        <a:lstStyle/>
        <a:p>
          <a:endParaRPr lang="en-IN"/>
        </a:p>
      </dgm:t>
    </dgm:pt>
    <dgm:pt modelId="{966A5EB2-E477-4B38-B21D-6DCF4042011E}">
      <dgm:prSet custT="1"/>
      <dgm:spPr/>
      <dgm:t>
        <a:bodyPr/>
        <a:lstStyle/>
        <a:p>
          <a:pPr algn="just"/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Existing mental‑health apps rarely offer culturally grounded or multi‑perspective support.</a:t>
          </a:r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01F8672-5183-4FB6-A365-99801ADBD564}" type="parTrans" cxnId="{B64A9492-6CEB-498F-825A-64EEE7C8D700}">
      <dgm:prSet/>
      <dgm:spPr/>
      <dgm:t>
        <a:bodyPr/>
        <a:lstStyle/>
        <a:p>
          <a:endParaRPr lang="en-IN"/>
        </a:p>
      </dgm:t>
    </dgm:pt>
    <dgm:pt modelId="{87BAC04E-0C07-4BB1-B0FC-0C802EACD883}" type="sibTrans" cxnId="{B64A9492-6CEB-498F-825A-64EEE7C8D700}">
      <dgm:prSet/>
      <dgm:spPr/>
      <dgm:t>
        <a:bodyPr/>
        <a:lstStyle/>
        <a:p>
          <a:endParaRPr lang="en-IN"/>
        </a:p>
      </dgm:t>
    </dgm:pt>
    <dgm:pt modelId="{5F539C8E-3CAD-47F4-95C7-16C1EDBD1591}">
      <dgm:prSet custT="1"/>
      <dgm:spPr/>
      <dgm:t>
        <a:bodyPr/>
        <a:lstStyle/>
        <a:p>
          <a:pPr algn="just"/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Professional therapy is costly, stigmatized, or unavailable in real time.</a:t>
          </a:r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13B43C-E37A-44E4-A5B9-5ECB63D68957}" type="parTrans" cxnId="{B486B447-622D-49E3-9DC0-48278B593EB8}">
      <dgm:prSet/>
      <dgm:spPr/>
      <dgm:t>
        <a:bodyPr/>
        <a:lstStyle/>
        <a:p>
          <a:endParaRPr lang="en-IN"/>
        </a:p>
      </dgm:t>
    </dgm:pt>
    <dgm:pt modelId="{98A89BC7-49ED-43B9-92F3-2A7555CB37B7}" type="sibTrans" cxnId="{B486B447-622D-49E3-9DC0-48278B593EB8}">
      <dgm:prSet/>
      <dgm:spPr/>
      <dgm:t>
        <a:bodyPr/>
        <a:lstStyle/>
        <a:p>
          <a:endParaRPr lang="en-IN"/>
        </a:p>
      </dgm:t>
    </dgm:pt>
    <dgm:pt modelId="{B882FBE6-252B-4E10-9A16-230E70C89E3C}">
      <dgm:prSet custT="1"/>
      <dgm:spPr/>
      <dgm:t>
        <a:bodyPr/>
        <a:lstStyle/>
        <a:p>
          <a:pPr algn="just"/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Need: an always‑available, AI‑driven reframing tool rooted in Indian wisdom that restores emotional balance.</a:t>
          </a:r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9150951-5B8B-4E5C-8DCF-0282303E371A}" type="parTrans" cxnId="{28829D19-DADC-4DFA-93BD-17A4B096755C}">
      <dgm:prSet/>
      <dgm:spPr/>
      <dgm:t>
        <a:bodyPr/>
        <a:lstStyle/>
        <a:p>
          <a:endParaRPr lang="en-IN"/>
        </a:p>
      </dgm:t>
    </dgm:pt>
    <dgm:pt modelId="{A7D95A39-CAA4-41FB-9D73-38BC487A6FAA}" type="sibTrans" cxnId="{28829D19-DADC-4DFA-93BD-17A4B096755C}">
      <dgm:prSet/>
      <dgm:spPr/>
      <dgm:t>
        <a:bodyPr/>
        <a:lstStyle/>
        <a:p>
          <a:endParaRPr lang="en-IN"/>
        </a:p>
      </dgm:t>
    </dgm:pt>
    <dgm:pt modelId="{628AA833-BEE2-4802-9009-E034F6759F98}" type="pres">
      <dgm:prSet presAssocID="{27BB41F8-1C9C-4EB0-96A2-61FB8F43FB9E}" presName="linear" presStyleCnt="0">
        <dgm:presLayoutVars>
          <dgm:animLvl val="lvl"/>
          <dgm:resizeHandles val="exact"/>
        </dgm:presLayoutVars>
      </dgm:prSet>
      <dgm:spPr/>
    </dgm:pt>
    <dgm:pt modelId="{9A186FB4-7D3E-4BF3-864C-6F82E7A239AC}" type="pres">
      <dgm:prSet presAssocID="{835659B2-67FC-4C8C-9434-6F99AED8A0C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73E149F-510A-4D38-B1D8-4A22DED7F7B1}" type="pres">
      <dgm:prSet presAssocID="{2D0EF0D4-732F-47A6-B4A9-FF68DA1971FC}" presName="spacer" presStyleCnt="0"/>
      <dgm:spPr/>
    </dgm:pt>
    <dgm:pt modelId="{8E8D0812-0DBF-42DA-9410-1E8F8D8FDFEF}" type="pres">
      <dgm:prSet presAssocID="{966A5EB2-E477-4B38-B21D-6DCF4042011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E7F64A6-0611-4A95-9E51-2879B0D962F6}" type="pres">
      <dgm:prSet presAssocID="{87BAC04E-0C07-4BB1-B0FC-0C802EACD883}" presName="spacer" presStyleCnt="0"/>
      <dgm:spPr/>
    </dgm:pt>
    <dgm:pt modelId="{0A937F46-7334-4800-804C-669DDFA8E71E}" type="pres">
      <dgm:prSet presAssocID="{5F539C8E-3CAD-47F4-95C7-16C1EDBD15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07B6335-82CE-4114-9447-45ADDAAAB2D3}" type="pres">
      <dgm:prSet presAssocID="{98A89BC7-49ED-43B9-92F3-2A7555CB37B7}" presName="spacer" presStyleCnt="0"/>
      <dgm:spPr/>
    </dgm:pt>
    <dgm:pt modelId="{98BE3383-01B8-4184-B44C-18EF5240E170}" type="pres">
      <dgm:prSet presAssocID="{B882FBE6-252B-4E10-9A16-230E70C89E3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8D42117-D9AD-4804-B8EB-8CADC0D65066}" srcId="{27BB41F8-1C9C-4EB0-96A2-61FB8F43FB9E}" destId="{835659B2-67FC-4C8C-9434-6F99AED8A0C1}" srcOrd="0" destOrd="0" parTransId="{889F50D7-637C-4738-A3AE-0577C1758F20}" sibTransId="{2D0EF0D4-732F-47A6-B4A9-FF68DA1971FC}"/>
    <dgm:cxn modelId="{28829D19-DADC-4DFA-93BD-17A4B096755C}" srcId="{27BB41F8-1C9C-4EB0-96A2-61FB8F43FB9E}" destId="{B882FBE6-252B-4E10-9A16-230E70C89E3C}" srcOrd="3" destOrd="0" parTransId="{09150951-5B8B-4E5C-8DCF-0282303E371A}" sibTransId="{A7D95A39-CAA4-41FB-9D73-38BC487A6FAA}"/>
    <dgm:cxn modelId="{65F9815F-8CDB-44B4-9DF0-4BAF0EAB8EDD}" type="presOf" srcId="{966A5EB2-E477-4B38-B21D-6DCF4042011E}" destId="{8E8D0812-0DBF-42DA-9410-1E8F8D8FDFEF}" srcOrd="0" destOrd="0" presId="urn:microsoft.com/office/officeart/2005/8/layout/vList2"/>
    <dgm:cxn modelId="{B486B447-622D-49E3-9DC0-48278B593EB8}" srcId="{27BB41F8-1C9C-4EB0-96A2-61FB8F43FB9E}" destId="{5F539C8E-3CAD-47F4-95C7-16C1EDBD1591}" srcOrd="2" destOrd="0" parTransId="{DE13B43C-E37A-44E4-A5B9-5ECB63D68957}" sibTransId="{98A89BC7-49ED-43B9-92F3-2A7555CB37B7}"/>
    <dgm:cxn modelId="{33F3CD67-FF88-4E32-82F0-432431FC0377}" type="presOf" srcId="{B882FBE6-252B-4E10-9A16-230E70C89E3C}" destId="{98BE3383-01B8-4184-B44C-18EF5240E170}" srcOrd="0" destOrd="0" presId="urn:microsoft.com/office/officeart/2005/8/layout/vList2"/>
    <dgm:cxn modelId="{B64A9492-6CEB-498F-825A-64EEE7C8D700}" srcId="{27BB41F8-1C9C-4EB0-96A2-61FB8F43FB9E}" destId="{966A5EB2-E477-4B38-B21D-6DCF4042011E}" srcOrd="1" destOrd="0" parTransId="{801F8672-5183-4FB6-A365-99801ADBD564}" sibTransId="{87BAC04E-0C07-4BB1-B0FC-0C802EACD883}"/>
    <dgm:cxn modelId="{3CF5089C-4F8A-4A0E-B8F6-8E9318EC3D80}" type="presOf" srcId="{5F539C8E-3CAD-47F4-95C7-16C1EDBD1591}" destId="{0A937F46-7334-4800-804C-669DDFA8E71E}" srcOrd="0" destOrd="0" presId="urn:microsoft.com/office/officeart/2005/8/layout/vList2"/>
    <dgm:cxn modelId="{95615FB0-3BAF-4350-9BFD-30A2A1F72387}" type="presOf" srcId="{27BB41F8-1C9C-4EB0-96A2-61FB8F43FB9E}" destId="{628AA833-BEE2-4802-9009-E034F6759F98}" srcOrd="0" destOrd="0" presId="urn:microsoft.com/office/officeart/2005/8/layout/vList2"/>
    <dgm:cxn modelId="{6B6CA6C8-1BB5-4BE0-A2CC-6E7716ECC399}" type="presOf" srcId="{835659B2-67FC-4C8C-9434-6F99AED8A0C1}" destId="{9A186FB4-7D3E-4BF3-864C-6F82E7A239AC}" srcOrd="0" destOrd="0" presId="urn:microsoft.com/office/officeart/2005/8/layout/vList2"/>
    <dgm:cxn modelId="{61ABDD25-B3D5-4610-A3CD-19D44DB2FB49}" type="presParOf" srcId="{628AA833-BEE2-4802-9009-E034F6759F98}" destId="{9A186FB4-7D3E-4BF3-864C-6F82E7A239AC}" srcOrd="0" destOrd="0" presId="urn:microsoft.com/office/officeart/2005/8/layout/vList2"/>
    <dgm:cxn modelId="{07E96B92-45CF-4FC5-9123-969E306317F8}" type="presParOf" srcId="{628AA833-BEE2-4802-9009-E034F6759F98}" destId="{173E149F-510A-4D38-B1D8-4A22DED7F7B1}" srcOrd="1" destOrd="0" presId="urn:microsoft.com/office/officeart/2005/8/layout/vList2"/>
    <dgm:cxn modelId="{E7CA091B-E448-4D4B-AEAF-8CC2E523F9C2}" type="presParOf" srcId="{628AA833-BEE2-4802-9009-E034F6759F98}" destId="{8E8D0812-0DBF-42DA-9410-1E8F8D8FDFEF}" srcOrd="2" destOrd="0" presId="urn:microsoft.com/office/officeart/2005/8/layout/vList2"/>
    <dgm:cxn modelId="{FC0FDF5A-D003-4277-B28F-FB4096CE0505}" type="presParOf" srcId="{628AA833-BEE2-4802-9009-E034F6759F98}" destId="{8E7F64A6-0611-4A95-9E51-2879B0D962F6}" srcOrd="3" destOrd="0" presId="urn:microsoft.com/office/officeart/2005/8/layout/vList2"/>
    <dgm:cxn modelId="{E35C1436-836A-45B9-80B1-8639BBE0EAAB}" type="presParOf" srcId="{628AA833-BEE2-4802-9009-E034F6759F98}" destId="{0A937F46-7334-4800-804C-669DDFA8E71E}" srcOrd="4" destOrd="0" presId="urn:microsoft.com/office/officeart/2005/8/layout/vList2"/>
    <dgm:cxn modelId="{488DEA5D-F936-47C7-8C49-563DFDECAE4F}" type="presParOf" srcId="{628AA833-BEE2-4802-9009-E034F6759F98}" destId="{007B6335-82CE-4114-9447-45ADDAAAB2D3}" srcOrd="5" destOrd="0" presId="urn:microsoft.com/office/officeart/2005/8/layout/vList2"/>
    <dgm:cxn modelId="{94DEC1CB-64A9-48BC-BBD7-DB92E05E3271}" type="presParOf" srcId="{628AA833-BEE2-4802-9009-E034F6759F98}" destId="{98BE3383-01B8-4184-B44C-18EF5240E17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C51E0F-D992-441E-ACD9-F442CF8C69D1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F9B53072-C143-4A2E-8F63-7DFC57553A89}">
      <dgm:prSet custT="1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All Modules Description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142B7D4-0C94-4DE0-B890-9CB4925E5BB0}" type="parTrans" cxnId="{77E17440-81F6-40E1-A503-5C604E961B41}">
      <dgm:prSet/>
      <dgm:spPr/>
      <dgm:t>
        <a:bodyPr/>
        <a:lstStyle/>
        <a:p>
          <a:endParaRPr lang="en-US"/>
        </a:p>
      </dgm:t>
    </dgm:pt>
    <dgm:pt modelId="{765A61CE-DE8B-4A6D-B4E5-42492F24F500}" type="sibTrans" cxnId="{77E17440-81F6-40E1-A503-5C604E961B41}">
      <dgm:prSet/>
      <dgm:spPr/>
      <dgm:t>
        <a:bodyPr/>
        <a:lstStyle/>
        <a:p>
          <a:endParaRPr lang="en-US"/>
        </a:p>
      </dgm:t>
    </dgm:pt>
    <dgm:pt modelId="{4C8CD3FF-22CB-41B3-8B0D-0A49A3C3672E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User Input Module 	→ Captures user text input </a:t>
          </a:r>
        </a:p>
      </dgm:t>
    </dgm:pt>
    <dgm:pt modelId="{E169B5F1-221B-4359-8459-ECF426DEB013}" type="parTrans" cxnId="{EEE575C9-934A-429D-A268-2CD65A116538}">
      <dgm:prSet/>
      <dgm:spPr/>
      <dgm:t>
        <a:bodyPr/>
        <a:lstStyle/>
        <a:p>
          <a:endParaRPr lang="en-US"/>
        </a:p>
      </dgm:t>
    </dgm:pt>
    <dgm:pt modelId="{AF9C0D52-68A0-4D29-B76F-C53E666B37ED}" type="sibTrans" cxnId="{EEE575C9-934A-429D-A268-2CD65A116538}">
      <dgm:prSet/>
      <dgm:spPr/>
      <dgm:t>
        <a:bodyPr/>
        <a:lstStyle/>
        <a:p>
          <a:endParaRPr lang="en-US"/>
        </a:p>
      </dgm:t>
    </dgm:pt>
    <dgm:pt modelId="{E2A53CF3-A08F-4FAA-9C8E-5DB591822082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Emotion Detection Module → BERT classifier detects emotions like sadness, anger, fear.</a:t>
          </a:r>
        </a:p>
      </dgm:t>
    </dgm:pt>
    <dgm:pt modelId="{046D3070-07E7-462C-A149-9F3CDA764E7C}" type="parTrans" cxnId="{FCE51333-52DB-4DDD-A2C0-89C4C34AAE97}">
      <dgm:prSet/>
      <dgm:spPr/>
      <dgm:t>
        <a:bodyPr/>
        <a:lstStyle/>
        <a:p>
          <a:endParaRPr lang="en-US"/>
        </a:p>
      </dgm:t>
    </dgm:pt>
    <dgm:pt modelId="{1C28E46F-5954-4080-8D22-CADE6D95A1E3}" type="sibTrans" cxnId="{FCE51333-52DB-4DDD-A2C0-89C4C34AAE97}">
      <dgm:prSet/>
      <dgm:spPr/>
      <dgm:t>
        <a:bodyPr/>
        <a:lstStyle/>
        <a:p>
          <a:endParaRPr lang="en-US"/>
        </a:p>
      </dgm:t>
    </dgm:pt>
    <dgm:pt modelId="{4A33C03C-BB85-424F-8D89-BD74246D0E84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Lens Generation Module 	→ GPT-4/LLM creates 3 responses: Emotional, Spiritual, Strategic.</a:t>
          </a:r>
        </a:p>
      </dgm:t>
    </dgm:pt>
    <dgm:pt modelId="{66D5124F-068E-4BF4-ACD9-D22D644DC44D}" type="parTrans" cxnId="{A104449B-9EB0-402A-A322-4C7FD9846024}">
      <dgm:prSet/>
      <dgm:spPr/>
      <dgm:t>
        <a:bodyPr/>
        <a:lstStyle/>
        <a:p>
          <a:endParaRPr lang="en-US"/>
        </a:p>
      </dgm:t>
    </dgm:pt>
    <dgm:pt modelId="{74881303-F8F0-46E1-A8AA-B34436F4E9D3}" type="sibTrans" cxnId="{A104449B-9EB0-402A-A322-4C7FD9846024}">
      <dgm:prSet/>
      <dgm:spPr/>
      <dgm:t>
        <a:bodyPr/>
        <a:lstStyle/>
        <a:p>
          <a:endParaRPr lang="en-US"/>
        </a:p>
      </dgm:t>
    </dgm:pt>
    <dgm:pt modelId="{1D1D5C32-5AA1-4DE0-B989-E6FABF4FE14D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Knowledge Base Module 	→ connects Bhagavad Gita verses + motivational dataset.</a:t>
          </a:r>
        </a:p>
      </dgm:t>
    </dgm:pt>
    <dgm:pt modelId="{B16EE524-D1E5-4E41-AA94-CCB983AABFB4}" type="parTrans" cxnId="{7FED0A11-E68C-4A1A-A6FE-6F1D118A6A76}">
      <dgm:prSet/>
      <dgm:spPr/>
      <dgm:t>
        <a:bodyPr/>
        <a:lstStyle/>
        <a:p>
          <a:endParaRPr lang="en-US"/>
        </a:p>
      </dgm:t>
    </dgm:pt>
    <dgm:pt modelId="{E45C3B2E-C5D2-4458-BAE8-B25471CEE250}" type="sibTrans" cxnId="{7FED0A11-E68C-4A1A-A6FE-6F1D118A6A76}">
      <dgm:prSet/>
      <dgm:spPr/>
      <dgm:t>
        <a:bodyPr/>
        <a:lstStyle/>
        <a:p>
          <a:endParaRPr lang="en-US"/>
        </a:p>
      </dgm:t>
    </dgm:pt>
    <dgm:pt modelId="{16C5C546-2451-494C-8CBE-E09B27510A64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Post-Processing Module 	→ Filters out toxic/irrelevant responses + improves readability.</a:t>
          </a:r>
        </a:p>
      </dgm:t>
    </dgm:pt>
    <dgm:pt modelId="{9F812780-5F54-440E-8391-05FBD8F082E3}" type="parTrans" cxnId="{26248130-9251-459C-A240-B9DCE1853687}">
      <dgm:prSet/>
      <dgm:spPr/>
      <dgm:t>
        <a:bodyPr/>
        <a:lstStyle/>
        <a:p>
          <a:endParaRPr lang="en-US"/>
        </a:p>
      </dgm:t>
    </dgm:pt>
    <dgm:pt modelId="{B0586866-1957-45FE-A249-D09253927119}" type="sibTrans" cxnId="{26248130-9251-459C-A240-B9DCE1853687}">
      <dgm:prSet/>
      <dgm:spPr/>
      <dgm:t>
        <a:bodyPr/>
        <a:lstStyle/>
        <a:p>
          <a:endParaRPr lang="en-US"/>
        </a:p>
      </dgm:t>
    </dgm:pt>
    <dgm:pt modelId="{C905F4C1-D27B-4941-B616-0C097D6D2428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Feedback Module 	→ The model is refined based on user ratings.</a:t>
          </a:r>
        </a:p>
      </dgm:t>
    </dgm:pt>
    <dgm:pt modelId="{3EFD2489-7C7B-48DB-BC4E-AF86CFBACE79}" type="parTrans" cxnId="{1CB8A341-A9FC-4721-8468-C6AED351114B}">
      <dgm:prSet/>
      <dgm:spPr/>
      <dgm:t>
        <a:bodyPr/>
        <a:lstStyle/>
        <a:p>
          <a:endParaRPr lang="en-US"/>
        </a:p>
      </dgm:t>
    </dgm:pt>
    <dgm:pt modelId="{BA15A9C7-9056-4180-80B3-B45CD196F8D1}" type="sibTrans" cxnId="{1CB8A341-A9FC-4721-8468-C6AED351114B}">
      <dgm:prSet/>
      <dgm:spPr/>
      <dgm:t>
        <a:bodyPr/>
        <a:lstStyle/>
        <a:p>
          <a:endParaRPr lang="en-US"/>
        </a:p>
      </dgm:t>
    </dgm:pt>
    <dgm:pt modelId="{7F9A3463-E747-4080-80C4-5EF0FB255D58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Storage Module 		→ Secure journaling &amp; bookmarking in Firebase/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Firestore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64CC01E4-CF2F-490A-A071-901B3B096AEE}" type="parTrans" cxnId="{AC33ABB3-19C2-4740-AF93-72CB865083D3}">
      <dgm:prSet/>
      <dgm:spPr/>
      <dgm:t>
        <a:bodyPr/>
        <a:lstStyle/>
        <a:p>
          <a:endParaRPr lang="en-US"/>
        </a:p>
      </dgm:t>
    </dgm:pt>
    <dgm:pt modelId="{B35FF357-949E-40C4-AB4E-0F035328A572}" type="sibTrans" cxnId="{AC33ABB3-19C2-4740-AF93-72CB865083D3}">
      <dgm:prSet/>
      <dgm:spPr/>
      <dgm:t>
        <a:bodyPr/>
        <a:lstStyle/>
        <a:p>
          <a:endParaRPr lang="en-US"/>
        </a:p>
      </dgm:t>
    </dgm:pt>
    <dgm:pt modelId="{4D406A02-6906-47A0-B462-FB9BC5CA5D7D}" type="pres">
      <dgm:prSet presAssocID="{3BC51E0F-D992-441E-ACD9-F442CF8C69D1}" presName="linear" presStyleCnt="0">
        <dgm:presLayoutVars>
          <dgm:animLvl val="lvl"/>
          <dgm:resizeHandles val="exact"/>
        </dgm:presLayoutVars>
      </dgm:prSet>
      <dgm:spPr/>
    </dgm:pt>
    <dgm:pt modelId="{B94569C6-4624-4706-8328-F9E8EB9B2E07}" type="pres">
      <dgm:prSet presAssocID="{F9B53072-C143-4A2E-8F63-7DFC57553A89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4691365D-2FEA-403D-9B0F-D1E0C802B385}" type="pres">
      <dgm:prSet presAssocID="{765A61CE-DE8B-4A6D-B4E5-42492F24F500}" presName="spacer" presStyleCnt="0"/>
      <dgm:spPr/>
    </dgm:pt>
    <dgm:pt modelId="{EFF049F2-28AE-45FF-97A0-9AAF1788D811}" type="pres">
      <dgm:prSet presAssocID="{4C8CD3FF-22CB-41B3-8B0D-0A49A3C3672E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5D391D66-B7DC-45C5-9097-D5338A01A61E}" type="pres">
      <dgm:prSet presAssocID="{AF9C0D52-68A0-4D29-B76F-C53E666B37ED}" presName="spacer" presStyleCnt="0"/>
      <dgm:spPr/>
    </dgm:pt>
    <dgm:pt modelId="{E9314159-64EF-47F5-B968-93721BB6ADAC}" type="pres">
      <dgm:prSet presAssocID="{E2A53CF3-A08F-4FAA-9C8E-5DB591822082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ED7DCF13-723F-4988-922E-690CE31E436D}" type="pres">
      <dgm:prSet presAssocID="{1C28E46F-5954-4080-8D22-CADE6D95A1E3}" presName="spacer" presStyleCnt="0"/>
      <dgm:spPr/>
    </dgm:pt>
    <dgm:pt modelId="{48B540B9-C750-43ED-B7C6-EF702C33C903}" type="pres">
      <dgm:prSet presAssocID="{4A33C03C-BB85-424F-8D89-BD74246D0E84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41DC93F0-9A1B-4201-AC9D-172871DD997F}" type="pres">
      <dgm:prSet presAssocID="{74881303-F8F0-46E1-A8AA-B34436F4E9D3}" presName="spacer" presStyleCnt="0"/>
      <dgm:spPr/>
    </dgm:pt>
    <dgm:pt modelId="{113D24E5-CAED-4AEC-9210-B5B8D40ECAB8}" type="pres">
      <dgm:prSet presAssocID="{1D1D5C32-5AA1-4DE0-B989-E6FABF4FE14D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E941E8B8-1901-4F6A-B7C7-D2A64BA67B1E}" type="pres">
      <dgm:prSet presAssocID="{E45C3B2E-C5D2-4458-BAE8-B25471CEE250}" presName="spacer" presStyleCnt="0"/>
      <dgm:spPr/>
    </dgm:pt>
    <dgm:pt modelId="{5DDFD885-0A08-4683-9750-AD1CD61C22B0}" type="pres">
      <dgm:prSet presAssocID="{16C5C546-2451-494C-8CBE-E09B27510A64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FFEA9B42-4017-440E-AAC0-AD4CE6A0D05E}" type="pres">
      <dgm:prSet presAssocID="{B0586866-1957-45FE-A249-D09253927119}" presName="spacer" presStyleCnt="0"/>
      <dgm:spPr/>
    </dgm:pt>
    <dgm:pt modelId="{07A68792-02DF-4913-85DE-18D1E08107B0}" type="pres">
      <dgm:prSet presAssocID="{C905F4C1-D27B-4941-B616-0C097D6D2428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4FA05D4A-2E8D-4EF7-80AE-6A29B7356FC7}" type="pres">
      <dgm:prSet presAssocID="{BA15A9C7-9056-4180-80B3-B45CD196F8D1}" presName="spacer" presStyleCnt="0"/>
      <dgm:spPr/>
    </dgm:pt>
    <dgm:pt modelId="{3C0491CD-7034-4CD0-87C1-CA379F3FF8A3}" type="pres">
      <dgm:prSet presAssocID="{7F9A3463-E747-4080-80C4-5EF0FB255D58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013E0007-60D6-4BA2-BC45-AA5EFCB4F2A2}" type="presOf" srcId="{4C8CD3FF-22CB-41B3-8B0D-0A49A3C3672E}" destId="{EFF049F2-28AE-45FF-97A0-9AAF1788D811}" srcOrd="0" destOrd="0" presId="urn:microsoft.com/office/officeart/2005/8/layout/vList2"/>
    <dgm:cxn modelId="{7FED0A11-E68C-4A1A-A6FE-6F1D118A6A76}" srcId="{3BC51E0F-D992-441E-ACD9-F442CF8C69D1}" destId="{1D1D5C32-5AA1-4DE0-B989-E6FABF4FE14D}" srcOrd="4" destOrd="0" parTransId="{B16EE524-D1E5-4E41-AA94-CCB983AABFB4}" sibTransId="{E45C3B2E-C5D2-4458-BAE8-B25471CEE250}"/>
    <dgm:cxn modelId="{054EAA21-7652-43BA-8768-B7EF8DD20C07}" type="presOf" srcId="{3BC51E0F-D992-441E-ACD9-F442CF8C69D1}" destId="{4D406A02-6906-47A0-B462-FB9BC5CA5D7D}" srcOrd="0" destOrd="0" presId="urn:microsoft.com/office/officeart/2005/8/layout/vList2"/>
    <dgm:cxn modelId="{26248130-9251-459C-A240-B9DCE1853687}" srcId="{3BC51E0F-D992-441E-ACD9-F442CF8C69D1}" destId="{16C5C546-2451-494C-8CBE-E09B27510A64}" srcOrd="5" destOrd="0" parTransId="{9F812780-5F54-440E-8391-05FBD8F082E3}" sibTransId="{B0586866-1957-45FE-A249-D09253927119}"/>
    <dgm:cxn modelId="{FCE51333-52DB-4DDD-A2C0-89C4C34AAE97}" srcId="{3BC51E0F-D992-441E-ACD9-F442CF8C69D1}" destId="{E2A53CF3-A08F-4FAA-9C8E-5DB591822082}" srcOrd="2" destOrd="0" parTransId="{046D3070-07E7-462C-A149-9F3CDA764E7C}" sibTransId="{1C28E46F-5954-4080-8D22-CADE6D95A1E3}"/>
    <dgm:cxn modelId="{77E17440-81F6-40E1-A503-5C604E961B41}" srcId="{3BC51E0F-D992-441E-ACD9-F442CF8C69D1}" destId="{F9B53072-C143-4A2E-8F63-7DFC57553A89}" srcOrd="0" destOrd="0" parTransId="{7142B7D4-0C94-4DE0-B890-9CB4925E5BB0}" sibTransId="{765A61CE-DE8B-4A6D-B4E5-42492F24F500}"/>
    <dgm:cxn modelId="{1CB8A341-A9FC-4721-8468-C6AED351114B}" srcId="{3BC51E0F-D992-441E-ACD9-F442CF8C69D1}" destId="{C905F4C1-D27B-4941-B616-0C097D6D2428}" srcOrd="6" destOrd="0" parTransId="{3EFD2489-7C7B-48DB-BC4E-AF86CFBACE79}" sibTransId="{BA15A9C7-9056-4180-80B3-B45CD196F8D1}"/>
    <dgm:cxn modelId="{64793E62-2BED-4D81-851F-64D5963A71D9}" type="presOf" srcId="{16C5C546-2451-494C-8CBE-E09B27510A64}" destId="{5DDFD885-0A08-4683-9750-AD1CD61C22B0}" srcOrd="0" destOrd="0" presId="urn:microsoft.com/office/officeart/2005/8/layout/vList2"/>
    <dgm:cxn modelId="{142F647C-0451-4CD2-BC76-B0F09CB18463}" type="presOf" srcId="{F9B53072-C143-4A2E-8F63-7DFC57553A89}" destId="{B94569C6-4624-4706-8328-F9E8EB9B2E07}" srcOrd="0" destOrd="0" presId="urn:microsoft.com/office/officeart/2005/8/layout/vList2"/>
    <dgm:cxn modelId="{A2B9BB91-ACB1-49F6-ACEE-E8D535E2A30F}" type="presOf" srcId="{4A33C03C-BB85-424F-8D89-BD74246D0E84}" destId="{48B540B9-C750-43ED-B7C6-EF702C33C903}" srcOrd="0" destOrd="0" presId="urn:microsoft.com/office/officeart/2005/8/layout/vList2"/>
    <dgm:cxn modelId="{A104449B-9EB0-402A-A322-4C7FD9846024}" srcId="{3BC51E0F-D992-441E-ACD9-F442CF8C69D1}" destId="{4A33C03C-BB85-424F-8D89-BD74246D0E84}" srcOrd="3" destOrd="0" parTransId="{66D5124F-068E-4BF4-ACD9-D22D644DC44D}" sibTransId="{74881303-F8F0-46E1-A8AA-B34436F4E9D3}"/>
    <dgm:cxn modelId="{AC33ABB3-19C2-4740-AF93-72CB865083D3}" srcId="{3BC51E0F-D992-441E-ACD9-F442CF8C69D1}" destId="{7F9A3463-E747-4080-80C4-5EF0FB255D58}" srcOrd="7" destOrd="0" parTransId="{64CC01E4-CF2F-490A-A071-901B3B096AEE}" sibTransId="{B35FF357-949E-40C4-AB4E-0F035328A572}"/>
    <dgm:cxn modelId="{A5B8B4B8-8DE9-49A7-90EC-DF17BFD7F60A}" type="presOf" srcId="{C905F4C1-D27B-4941-B616-0C097D6D2428}" destId="{07A68792-02DF-4913-85DE-18D1E08107B0}" srcOrd="0" destOrd="0" presId="urn:microsoft.com/office/officeart/2005/8/layout/vList2"/>
    <dgm:cxn modelId="{0734A1C2-EE74-46B4-954F-E975CDBE23EB}" type="presOf" srcId="{E2A53CF3-A08F-4FAA-9C8E-5DB591822082}" destId="{E9314159-64EF-47F5-B968-93721BB6ADAC}" srcOrd="0" destOrd="0" presId="urn:microsoft.com/office/officeart/2005/8/layout/vList2"/>
    <dgm:cxn modelId="{EEE575C9-934A-429D-A268-2CD65A116538}" srcId="{3BC51E0F-D992-441E-ACD9-F442CF8C69D1}" destId="{4C8CD3FF-22CB-41B3-8B0D-0A49A3C3672E}" srcOrd="1" destOrd="0" parTransId="{E169B5F1-221B-4359-8459-ECF426DEB013}" sibTransId="{AF9C0D52-68A0-4D29-B76F-C53E666B37ED}"/>
    <dgm:cxn modelId="{B8C2A5D3-4320-4609-ACBB-3B32AEE8E9CD}" type="presOf" srcId="{1D1D5C32-5AA1-4DE0-B989-E6FABF4FE14D}" destId="{113D24E5-CAED-4AEC-9210-B5B8D40ECAB8}" srcOrd="0" destOrd="0" presId="urn:microsoft.com/office/officeart/2005/8/layout/vList2"/>
    <dgm:cxn modelId="{67A921EB-375B-46D7-A2FF-0A2F35BFACC0}" type="presOf" srcId="{7F9A3463-E747-4080-80C4-5EF0FB255D58}" destId="{3C0491CD-7034-4CD0-87C1-CA379F3FF8A3}" srcOrd="0" destOrd="0" presId="urn:microsoft.com/office/officeart/2005/8/layout/vList2"/>
    <dgm:cxn modelId="{3CEFCEDB-D91F-4785-BE7B-5F74EF11A2ED}" type="presParOf" srcId="{4D406A02-6906-47A0-B462-FB9BC5CA5D7D}" destId="{B94569C6-4624-4706-8328-F9E8EB9B2E07}" srcOrd="0" destOrd="0" presId="urn:microsoft.com/office/officeart/2005/8/layout/vList2"/>
    <dgm:cxn modelId="{13C85EDC-3ED7-4068-82E0-61B5382940A6}" type="presParOf" srcId="{4D406A02-6906-47A0-B462-FB9BC5CA5D7D}" destId="{4691365D-2FEA-403D-9B0F-D1E0C802B385}" srcOrd="1" destOrd="0" presId="urn:microsoft.com/office/officeart/2005/8/layout/vList2"/>
    <dgm:cxn modelId="{91DEE778-4F3E-428D-8905-5110B08A78D7}" type="presParOf" srcId="{4D406A02-6906-47A0-B462-FB9BC5CA5D7D}" destId="{EFF049F2-28AE-45FF-97A0-9AAF1788D811}" srcOrd="2" destOrd="0" presId="urn:microsoft.com/office/officeart/2005/8/layout/vList2"/>
    <dgm:cxn modelId="{BE18B91F-696A-4866-9252-6C76CC5F8D4E}" type="presParOf" srcId="{4D406A02-6906-47A0-B462-FB9BC5CA5D7D}" destId="{5D391D66-B7DC-45C5-9097-D5338A01A61E}" srcOrd="3" destOrd="0" presId="urn:microsoft.com/office/officeart/2005/8/layout/vList2"/>
    <dgm:cxn modelId="{61D74430-2968-4FDA-9E20-3456A9BE3902}" type="presParOf" srcId="{4D406A02-6906-47A0-B462-FB9BC5CA5D7D}" destId="{E9314159-64EF-47F5-B968-93721BB6ADAC}" srcOrd="4" destOrd="0" presId="urn:microsoft.com/office/officeart/2005/8/layout/vList2"/>
    <dgm:cxn modelId="{1BC6BB32-7EAA-4277-8EF6-DC1F8EAE2C3D}" type="presParOf" srcId="{4D406A02-6906-47A0-B462-FB9BC5CA5D7D}" destId="{ED7DCF13-723F-4988-922E-690CE31E436D}" srcOrd="5" destOrd="0" presId="urn:microsoft.com/office/officeart/2005/8/layout/vList2"/>
    <dgm:cxn modelId="{21A81B44-DE1B-4FE1-8F61-902EC1458637}" type="presParOf" srcId="{4D406A02-6906-47A0-B462-FB9BC5CA5D7D}" destId="{48B540B9-C750-43ED-B7C6-EF702C33C903}" srcOrd="6" destOrd="0" presId="urn:microsoft.com/office/officeart/2005/8/layout/vList2"/>
    <dgm:cxn modelId="{01762499-F77E-43D2-B147-A61646A73795}" type="presParOf" srcId="{4D406A02-6906-47A0-B462-FB9BC5CA5D7D}" destId="{41DC93F0-9A1B-4201-AC9D-172871DD997F}" srcOrd="7" destOrd="0" presId="urn:microsoft.com/office/officeart/2005/8/layout/vList2"/>
    <dgm:cxn modelId="{D5FB0E50-BDA5-4E59-AC89-382DC4CB96D6}" type="presParOf" srcId="{4D406A02-6906-47A0-B462-FB9BC5CA5D7D}" destId="{113D24E5-CAED-4AEC-9210-B5B8D40ECAB8}" srcOrd="8" destOrd="0" presId="urn:microsoft.com/office/officeart/2005/8/layout/vList2"/>
    <dgm:cxn modelId="{ADDEAE49-ED18-4A90-ACAE-FD6B01156A33}" type="presParOf" srcId="{4D406A02-6906-47A0-B462-FB9BC5CA5D7D}" destId="{E941E8B8-1901-4F6A-B7C7-D2A64BA67B1E}" srcOrd="9" destOrd="0" presId="urn:microsoft.com/office/officeart/2005/8/layout/vList2"/>
    <dgm:cxn modelId="{915D221A-4C45-454B-8A18-C919A3C443CB}" type="presParOf" srcId="{4D406A02-6906-47A0-B462-FB9BC5CA5D7D}" destId="{5DDFD885-0A08-4683-9750-AD1CD61C22B0}" srcOrd="10" destOrd="0" presId="urn:microsoft.com/office/officeart/2005/8/layout/vList2"/>
    <dgm:cxn modelId="{347CB455-9163-485D-80EF-AFAE08299C9B}" type="presParOf" srcId="{4D406A02-6906-47A0-B462-FB9BC5CA5D7D}" destId="{FFEA9B42-4017-440E-AAC0-AD4CE6A0D05E}" srcOrd="11" destOrd="0" presId="urn:microsoft.com/office/officeart/2005/8/layout/vList2"/>
    <dgm:cxn modelId="{20553CD5-B774-4EEC-A875-5B86A955AFB2}" type="presParOf" srcId="{4D406A02-6906-47A0-B462-FB9BC5CA5D7D}" destId="{07A68792-02DF-4913-85DE-18D1E08107B0}" srcOrd="12" destOrd="0" presId="urn:microsoft.com/office/officeart/2005/8/layout/vList2"/>
    <dgm:cxn modelId="{A61CDB9C-7357-414E-A08D-5E19B40D2448}" type="presParOf" srcId="{4D406A02-6906-47A0-B462-FB9BC5CA5D7D}" destId="{4FA05D4A-2E8D-4EF7-80AE-6A29B7356FC7}" srcOrd="13" destOrd="0" presId="urn:microsoft.com/office/officeart/2005/8/layout/vList2"/>
    <dgm:cxn modelId="{06052591-496D-4ED0-9C44-A7D39AD9B184}" type="presParOf" srcId="{4D406A02-6906-47A0-B462-FB9BC5CA5D7D}" destId="{3C0491CD-7034-4CD0-87C1-CA379F3FF8A3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9B8182A-2739-4F74-9DE1-2DB7DD9AB95B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BA4F9FE8-20F4-4596-8611-E0D55FB2A8F1}">
      <dgm:prSet custT="1"/>
      <dgm:spPr/>
      <dgm:t>
        <a:bodyPr/>
        <a:lstStyle/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Yash Lade	 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→ Project Lead + Backend integration (Firebase, API handling).</a:t>
          </a:r>
        </a:p>
      </dgm:t>
    </dgm:pt>
    <dgm:pt modelId="{ED55A93B-9B1B-4155-ACC1-9963D0B7359C}" type="parTrans" cxnId="{6FD6B47D-208A-4955-AABA-4D0D3C47C1CE}">
      <dgm:prSet/>
      <dgm:spPr/>
      <dgm:t>
        <a:bodyPr/>
        <a:lstStyle/>
        <a:p>
          <a:endParaRPr lang="en-US"/>
        </a:p>
      </dgm:t>
    </dgm:pt>
    <dgm:pt modelId="{FADC9135-BB6E-4C44-B9F6-87D7A224A1E0}" type="sibTrans" cxnId="{6FD6B47D-208A-4955-AABA-4D0D3C47C1CE}">
      <dgm:prSet/>
      <dgm:spPr/>
      <dgm:t>
        <a:bodyPr/>
        <a:lstStyle/>
        <a:p>
          <a:endParaRPr lang="en-US"/>
        </a:p>
      </dgm:t>
    </dgm:pt>
    <dgm:pt modelId="{94114069-1328-4D89-98AE-3B1067F65CF9}">
      <dgm:prSet custT="1"/>
      <dgm:spPr/>
      <dgm:t>
        <a:bodyPr/>
        <a:lstStyle/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Tushar Gawhade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→ Frontend Developer (Flutter UI/UX design).</a:t>
          </a:r>
        </a:p>
      </dgm:t>
    </dgm:pt>
    <dgm:pt modelId="{3DA91B41-270F-4E91-8AF7-CCD95F29884F}" type="parTrans" cxnId="{1176833E-4093-45FB-A289-D56DADD5C32B}">
      <dgm:prSet/>
      <dgm:spPr/>
      <dgm:t>
        <a:bodyPr/>
        <a:lstStyle/>
        <a:p>
          <a:endParaRPr lang="en-US"/>
        </a:p>
      </dgm:t>
    </dgm:pt>
    <dgm:pt modelId="{05B97012-B0AD-40DF-A55A-0C48384F5876}" type="sibTrans" cxnId="{1176833E-4093-45FB-A289-D56DADD5C32B}">
      <dgm:prSet/>
      <dgm:spPr/>
      <dgm:t>
        <a:bodyPr/>
        <a:lstStyle/>
        <a:p>
          <a:endParaRPr lang="en-US"/>
        </a:p>
      </dgm:t>
    </dgm:pt>
    <dgm:pt modelId="{4AADBF80-8457-49C9-9BA4-4E170AEDDED4}">
      <dgm:prSet custT="1"/>
      <dgm:spPr/>
      <dgm:t>
        <a:bodyPr/>
        <a:lstStyle/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Vivek Rathore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	→ NLP &amp; AI Model handling (emotion detection, GPT-4 prompt engineering).</a:t>
          </a:r>
        </a:p>
      </dgm:t>
    </dgm:pt>
    <dgm:pt modelId="{5C5EA14D-962F-4074-A7FB-112C7FF26C2E}" type="parTrans" cxnId="{D412C44D-6F0D-444F-B38B-732FC55176B3}">
      <dgm:prSet/>
      <dgm:spPr/>
      <dgm:t>
        <a:bodyPr/>
        <a:lstStyle/>
        <a:p>
          <a:endParaRPr lang="en-US"/>
        </a:p>
      </dgm:t>
    </dgm:pt>
    <dgm:pt modelId="{80FAF492-5A82-4F43-8BCC-8EC6281E3A5C}" type="sibTrans" cxnId="{D412C44D-6F0D-444F-B38B-732FC55176B3}">
      <dgm:prSet/>
      <dgm:spPr/>
      <dgm:t>
        <a:bodyPr/>
        <a:lstStyle/>
        <a:p>
          <a:endParaRPr lang="en-US"/>
        </a:p>
      </dgm:t>
    </dgm:pt>
    <dgm:pt modelId="{B1B36C4E-27EA-4091-A4F3-AC005A93037B}">
      <dgm:prSet custT="1"/>
      <dgm:spPr/>
      <dgm:t>
        <a:bodyPr/>
        <a:lstStyle/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Saransh Patil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	→ Database &amp; Security (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Firestore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design, encryption, journaling module).</a:t>
          </a:r>
        </a:p>
      </dgm:t>
    </dgm:pt>
    <dgm:pt modelId="{A4893F16-B483-49CA-8870-24F3B10E5972}" type="parTrans" cxnId="{04C22C17-E9BB-439C-93E3-E027103A9AC8}">
      <dgm:prSet/>
      <dgm:spPr/>
      <dgm:t>
        <a:bodyPr/>
        <a:lstStyle/>
        <a:p>
          <a:endParaRPr lang="en-US"/>
        </a:p>
      </dgm:t>
    </dgm:pt>
    <dgm:pt modelId="{76DF7671-C0D3-4056-8A40-3672530212E7}" type="sibTrans" cxnId="{04C22C17-E9BB-439C-93E3-E027103A9AC8}">
      <dgm:prSet/>
      <dgm:spPr/>
      <dgm:t>
        <a:bodyPr/>
        <a:lstStyle/>
        <a:p>
          <a:endParaRPr lang="en-US"/>
        </a:p>
      </dgm:t>
    </dgm:pt>
    <dgm:pt modelId="{05ACF81F-5889-4DEE-9CA9-B6895472C5C2}" type="pres">
      <dgm:prSet presAssocID="{C9B8182A-2739-4F74-9DE1-2DB7DD9AB95B}" presName="linear" presStyleCnt="0">
        <dgm:presLayoutVars>
          <dgm:animLvl val="lvl"/>
          <dgm:resizeHandles val="exact"/>
        </dgm:presLayoutVars>
      </dgm:prSet>
      <dgm:spPr/>
    </dgm:pt>
    <dgm:pt modelId="{80B15EF7-C600-4288-B358-D9F7EA7DBF76}" type="pres">
      <dgm:prSet presAssocID="{BA4F9FE8-20F4-4596-8611-E0D55FB2A8F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9B79472-F921-49B5-80BE-5743EB04F2E4}" type="pres">
      <dgm:prSet presAssocID="{FADC9135-BB6E-4C44-B9F6-87D7A224A1E0}" presName="spacer" presStyleCnt="0"/>
      <dgm:spPr/>
    </dgm:pt>
    <dgm:pt modelId="{110DEDAA-8EFC-4FC4-9310-89A5450A837D}" type="pres">
      <dgm:prSet presAssocID="{94114069-1328-4D89-98AE-3B1067F65CF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5AA64D5-2E31-43E0-9F15-423C2736E508}" type="pres">
      <dgm:prSet presAssocID="{05B97012-B0AD-40DF-A55A-0C48384F5876}" presName="spacer" presStyleCnt="0"/>
      <dgm:spPr/>
    </dgm:pt>
    <dgm:pt modelId="{2EF59E42-9D7C-4348-AA56-AB720EDC5079}" type="pres">
      <dgm:prSet presAssocID="{4AADBF80-8457-49C9-9BA4-4E170AEDDED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CBF7ECB-1746-4B40-8A6F-D3865E417F2A}" type="pres">
      <dgm:prSet presAssocID="{80FAF492-5A82-4F43-8BCC-8EC6281E3A5C}" presName="spacer" presStyleCnt="0"/>
      <dgm:spPr/>
    </dgm:pt>
    <dgm:pt modelId="{74E336BB-6BEF-4E86-8D15-C279AF4EAF65}" type="pres">
      <dgm:prSet presAssocID="{B1B36C4E-27EA-4091-A4F3-AC005A93037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4C22C17-E9BB-439C-93E3-E027103A9AC8}" srcId="{C9B8182A-2739-4F74-9DE1-2DB7DD9AB95B}" destId="{B1B36C4E-27EA-4091-A4F3-AC005A93037B}" srcOrd="3" destOrd="0" parTransId="{A4893F16-B483-49CA-8870-24F3B10E5972}" sibTransId="{76DF7671-C0D3-4056-8A40-3672530212E7}"/>
    <dgm:cxn modelId="{1176833E-4093-45FB-A289-D56DADD5C32B}" srcId="{C9B8182A-2739-4F74-9DE1-2DB7DD9AB95B}" destId="{94114069-1328-4D89-98AE-3B1067F65CF9}" srcOrd="1" destOrd="0" parTransId="{3DA91B41-270F-4E91-8AF7-CCD95F29884F}" sibTransId="{05B97012-B0AD-40DF-A55A-0C48384F5876}"/>
    <dgm:cxn modelId="{A7AC0269-F798-4724-9704-70038EFD9158}" type="presOf" srcId="{94114069-1328-4D89-98AE-3B1067F65CF9}" destId="{110DEDAA-8EFC-4FC4-9310-89A5450A837D}" srcOrd="0" destOrd="0" presId="urn:microsoft.com/office/officeart/2005/8/layout/vList2"/>
    <dgm:cxn modelId="{D412C44D-6F0D-444F-B38B-732FC55176B3}" srcId="{C9B8182A-2739-4F74-9DE1-2DB7DD9AB95B}" destId="{4AADBF80-8457-49C9-9BA4-4E170AEDDED4}" srcOrd="2" destOrd="0" parTransId="{5C5EA14D-962F-4074-A7FB-112C7FF26C2E}" sibTransId="{80FAF492-5A82-4F43-8BCC-8EC6281E3A5C}"/>
    <dgm:cxn modelId="{6FD6B47D-208A-4955-AABA-4D0D3C47C1CE}" srcId="{C9B8182A-2739-4F74-9DE1-2DB7DD9AB95B}" destId="{BA4F9FE8-20F4-4596-8611-E0D55FB2A8F1}" srcOrd="0" destOrd="0" parTransId="{ED55A93B-9B1B-4155-ACC1-9963D0B7359C}" sibTransId="{FADC9135-BB6E-4C44-B9F6-87D7A224A1E0}"/>
    <dgm:cxn modelId="{028AEF90-E13F-436E-AE66-5862B9745C34}" type="presOf" srcId="{4AADBF80-8457-49C9-9BA4-4E170AEDDED4}" destId="{2EF59E42-9D7C-4348-AA56-AB720EDC5079}" srcOrd="0" destOrd="0" presId="urn:microsoft.com/office/officeart/2005/8/layout/vList2"/>
    <dgm:cxn modelId="{C06CACAB-F5FE-4DC2-9C65-46C41F3B6729}" type="presOf" srcId="{B1B36C4E-27EA-4091-A4F3-AC005A93037B}" destId="{74E336BB-6BEF-4E86-8D15-C279AF4EAF65}" srcOrd="0" destOrd="0" presId="urn:microsoft.com/office/officeart/2005/8/layout/vList2"/>
    <dgm:cxn modelId="{8ACC1BDF-0C45-4165-AA32-D727964EBA14}" type="presOf" srcId="{C9B8182A-2739-4F74-9DE1-2DB7DD9AB95B}" destId="{05ACF81F-5889-4DEE-9CA9-B6895472C5C2}" srcOrd="0" destOrd="0" presId="urn:microsoft.com/office/officeart/2005/8/layout/vList2"/>
    <dgm:cxn modelId="{760D30E7-9C43-4B0B-A8F4-0177C9E8B50B}" type="presOf" srcId="{BA4F9FE8-20F4-4596-8611-E0D55FB2A8F1}" destId="{80B15EF7-C600-4288-B358-D9F7EA7DBF76}" srcOrd="0" destOrd="0" presId="urn:microsoft.com/office/officeart/2005/8/layout/vList2"/>
    <dgm:cxn modelId="{0FB951F8-AD1F-408F-880D-78CB0F6F08E7}" type="presParOf" srcId="{05ACF81F-5889-4DEE-9CA9-B6895472C5C2}" destId="{80B15EF7-C600-4288-B358-D9F7EA7DBF76}" srcOrd="0" destOrd="0" presId="urn:microsoft.com/office/officeart/2005/8/layout/vList2"/>
    <dgm:cxn modelId="{E9EC1656-9614-4741-821B-A224A46B68A6}" type="presParOf" srcId="{05ACF81F-5889-4DEE-9CA9-B6895472C5C2}" destId="{59B79472-F921-49B5-80BE-5743EB04F2E4}" srcOrd="1" destOrd="0" presId="urn:microsoft.com/office/officeart/2005/8/layout/vList2"/>
    <dgm:cxn modelId="{76FCACE7-7214-4B79-8EEB-0E44861290F6}" type="presParOf" srcId="{05ACF81F-5889-4DEE-9CA9-B6895472C5C2}" destId="{110DEDAA-8EFC-4FC4-9310-89A5450A837D}" srcOrd="2" destOrd="0" presId="urn:microsoft.com/office/officeart/2005/8/layout/vList2"/>
    <dgm:cxn modelId="{66E25556-D67A-4A3F-B009-2A8D59D94111}" type="presParOf" srcId="{05ACF81F-5889-4DEE-9CA9-B6895472C5C2}" destId="{E5AA64D5-2E31-43E0-9F15-423C2736E508}" srcOrd="3" destOrd="0" presId="urn:microsoft.com/office/officeart/2005/8/layout/vList2"/>
    <dgm:cxn modelId="{83D36BD5-CEA5-42C0-AB10-8BB62A4D8819}" type="presParOf" srcId="{05ACF81F-5889-4DEE-9CA9-B6895472C5C2}" destId="{2EF59E42-9D7C-4348-AA56-AB720EDC5079}" srcOrd="4" destOrd="0" presId="urn:microsoft.com/office/officeart/2005/8/layout/vList2"/>
    <dgm:cxn modelId="{00929786-95AA-4FA8-9A9A-437AA9989E4B}" type="presParOf" srcId="{05ACF81F-5889-4DEE-9CA9-B6895472C5C2}" destId="{2CBF7ECB-1746-4B40-8A6F-D3865E417F2A}" srcOrd="5" destOrd="0" presId="urn:microsoft.com/office/officeart/2005/8/layout/vList2"/>
    <dgm:cxn modelId="{04D1065D-E967-46AA-8A22-964509BB0F97}" type="presParOf" srcId="{05ACF81F-5889-4DEE-9CA9-B6895472C5C2}" destId="{74E336BB-6BEF-4E86-8D15-C279AF4EAF6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186FB4-7D3E-4BF3-864C-6F82E7A239AC}">
      <dsp:nvSpPr>
        <dsp:cNvPr id="0" name=""/>
        <dsp:cNvSpPr/>
      </dsp:nvSpPr>
      <dsp:spPr>
        <a:xfrm>
          <a:off x="0" y="4149"/>
          <a:ext cx="10515600" cy="973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Escalating academic, social, and relationship stress among youth triggers impulsive reactions, anxiety, and depression.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519" y="51668"/>
        <a:ext cx="10420562" cy="878402"/>
      </dsp:txXfrm>
    </dsp:sp>
    <dsp:sp modelId="{8E8D0812-0DBF-42DA-9410-1E8F8D8FDFEF}">
      <dsp:nvSpPr>
        <dsp:cNvPr id="0" name=""/>
        <dsp:cNvSpPr/>
      </dsp:nvSpPr>
      <dsp:spPr>
        <a:xfrm>
          <a:off x="0" y="1127349"/>
          <a:ext cx="10515600" cy="973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Existing mental‑health apps rarely offer culturally grounded or multi‑perspective support.</a:t>
          </a:r>
          <a:endParaRPr lang="en-IN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519" y="1174868"/>
        <a:ext cx="10420562" cy="878402"/>
      </dsp:txXfrm>
    </dsp:sp>
    <dsp:sp modelId="{0A937F46-7334-4800-804C-669DDFA8E71E}">
      <dsp:nvSpPr>
        <dsp:cNvPr id="0" name=""/>
        <dsp:cNvSpPr/>
      </dsp:nvSpPr>
      <dsp:spPr>
        <a:xfrm>
          <a:off x="0" y="2250549"/>
          <a:ext cx="10515600" cy="973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Professional therapy is costly, stigmatized, or unavailable in real time.</a:t>
          </a:r>
          <a:endParaRPr lang="en-IN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519" y="2298068"/>
        <a:ext cx="10420562" cy="878402"/>
      </dsp:txXfrm>
    </dsp:sp>
    <dsp:sp modelId="{98BE3383-01B8-4184-B44C-18EF5240E170}">
      <dsp:nvSpPr>
        <dsp:cNvPr id="0" name=""/>
        <dsp:cNvSpPr/>
      </dsp:nvSpPr>
      <dsp:spPr>
        <a:xfrm>
          <a:off x="0" y="3373749"/>
          <a:ext cx="10515600" cy="973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Need: an always‑available, AI‑driven reframing tool rooted in Indian wisdom that restores emotional balance.</a:t>
          </a:r>
          <a:endParaRPr lang="en-IN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519" y="3421268"/>
        <a:ext cx="10420562" cy="8784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4569C6-4624-4706-8328-F9E8EB9B2E07}">
      <dsp:nvSpPr>
        <dsp:cNvPr id="0" name=""/>
        <dsp:cNvSpPr/>
      </dsp:nvSpPr>
      <dsp:spPr>
        <a:xfrm>
          <a:off x="0" y="67673"/>
          <a:ext cx="10515239" cy="468000"/>
        </a:xfrm>
        <a:prstGeom prst="roundRect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All Modules Description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846" y="90519"/>
        <a:ext cx="10469547" cy="422308"/>
      </dsp:txXfrm>
    </dsp:sp>
    <dsp:sp modelId="{EFF049F2-28AE-45FF-97A0-9AAF1788D811}">
      <dsp:nvSpPr>
        <dsp:cNvPr id="0" name=""/>
        <dsp:cNvSpPr/>
      </dsp:nvSpPr>
      <dsp:spPr>
        <a:xfrm>
          <a:off x="0" y="607673"/>
          <a:ext cx="10515239" cy="46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User Input Module 	→ Captures user text input </a:t>
          </a:r>
        </a:p>
      </dsp:txBody>
      <dsp:txXfrm>
        <a:off x="22846" y="630519"/>
        <a:ext cx="10469547" cy="422308"/>
      </dsp:txXfrm>
    </dsp:sp>
    <dsp:sp modelId="{E9314159-64EF-47F5-B968-93721BB6ADAC}">
      <dsp:nvSpPr>
        <dsp:cNvPr id="0" name=""/>
        <dsp:cNvSpPr/>
      </dsp:nvSpPr>
      <dsp:spPr>
        <a:xfrm>
          <a:off x="0" y="1147673"/>
          <a:ext cx="10515239" cy="46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Emotion Detection Module → BERT classifier detects emotions like sadness, anger, fear.</a:t>
          </a:r>
        </a:p>
      </dsp:txBody>
      <dsp:txXfrm>
        <a:off x="22846" y="1170519"/>
        <a:ext cx="10469547" cy="422308"/>
      </dsp:txXfrm>
    </dsp:sp>
    <dsp:sp modelId="{48B540B9-C750-43ED-B7C6-EF702C33C903}">
      <dsp:nvSpPr>
        <dsp:cNvPr id="0" name=""/>
        <dsp:cNvSpPr/>
      </dsp:nvSpPr>
      <dsp:spPr>
        <a:xfrm>
          <a:off x="0" y="1687673"/>
          <a:ext cx="10515239" cy="46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Lens Generation Module 	→ GPT-4/LLM creates 3 responses: Emotional, Spiritual, Strategic.</a:t>
          </a:r>
        </a:p>
      </dsp:txBody>
      <dsp:txXfrm>
        <a:off x="22846" y="1710519"/>
        <a:ext cx="10469547" cy="422308"/>
      </dsp:txXfrm>
    </dsp:sp>
    <dsp:sp modelId="{113D24E5-CAED-4AEC-9210-B5B8D40ECAB8}">
      <dsp:nvSpPr>
        <dsp:cNvPr id="0" name=""/>
        <dsp:cNvSpPr/>
      </dsp:nvSpPr>
      <dsp:spPr>
        <a:xfrm>
          <a:off x="0" y="2227673"/>
          <a:ext cx="10515239" cy="46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Knowledge Base Module 	→ connects Bhagavad Gita verses + motivational dataset.</a:t>
          </a:r>
        </a:p>
      </dsp:txBody>
      <dsp:txXfrm>
        <a:off x="22846" y="2250519"/>
        <a:ext cx="10469547" cy="422308"/>
      </dsp:txXfrm>
    </dsp:sp>
    <dsp:sp modelId="{5DDFD885-0A08-4683-9750-AD1CD61C22B0}">
      <dsp:nvSpPr>
        <dsp:cNvPr id="0" name=""/>
        <dsp:cNvSpPr/>
      </dsp:nvSpPr>
      <dsp:spPr>
        <a:xfrm>
          <a:off x="0" y="2767672"/>
          <a:ext cx="10515239" cy="46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Post-Processing Module 	→ Filters out toxic/irrelevant responses + improves readability.</a:t>
          </a:r>
        </a:p>
      </dsp:txBody>
      <dsp:txXfrm>
        <a:off x="22846" y="2790518"/>
        <a:ext cx="10469547" cy="422308"/>
      </dsp:txXfrm>
    </dsp:sp>
    <dsp:sp modelId="{07A68792-02DF-4913-85DE-18D1E08107B0}">
      <dsp:nvSpPr>
        <dsp:cNvPr id="0" name=""/>
        <dsp:cNvSpPr/>
      </dsp:nvSpPr>
      <dsp:spPr>
        <a:xfrm>
          <a:off x="0" y="3307672"/>
          <a:ext cx="10515239" cy="46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Feedback Module 	→ The model is refined based on user ratings.</a:t>
          </a:r>
        </a:p>
      </dsp:txBody>
      <dsp:txXfrm>
        <a:off x="22846" y="3330518"/>
        <a:ext cx="10469547" cy="422308"/>
      </dsp:txXfrm>
    </dsp:sp>
    <dsp:sp modelId="{3C0491CD-7034-4CD0-87C1-CA379F3FF8A3}">
      <dsp:nvSpPr>
        <dsp:cNvPr id="0" name=""/>
        <dsp:cNvSpPr/>
      </dsp:nvSpPr>
      <dsp:spPr>
        <a:xfrm>
          <a:off x="0" y="3847673"/>
          <a:ext cx="10515239" cy="46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Storage Module 		→ Secure journaling &amp; bookmarking in Firebase/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Firestore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22846" y="3870519"/>
        <a:ext cx="10469547" cy="4223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B15EF7-C600-4288-B358-D9F7EA7DBF76}">
      <dsp:nvSpPr>
        <dsp:cNvPr id="0" name=""/>
        <dsp:cNvSpPr/>
      </dsp:nvSpPr>
      <dsp:spPr>
        <a:xfrm>
          <a:off x="0" y="38664"/>
          <a:ext cx="10515239" cy="842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Yash Lade	 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→ Project Lead + Backend integration (Firebase, API handling).</a:t>
          </a:r>
        </a:p>
      </dsp:txBody>
      <dsp:txXfrm>
        <a:off x="41123" y="79787"/>
        <a:ext cx="10432993" cy="760154"/>
      </dsp:txXfrm>
    </dsp:sp>
    <dsp:sp modelId="{110DEDAA-8EFC-4FC4-9310-89A5450A837D}">
      <dsp:nvSpPr>
        <dsp:cNvPr id="0" name=""/>
        <dsp:cNvSpPr/>
      </dsp:nvSpPr>
      <dsp:spPr>
        <a:xfrm>
          <a:off x="0" y="1010664"/>
          <a:ext cx="10515239" cy="842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Tushar Gawhade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→ Frontend Developer (Flutter UI/UX design).</a:t>
          </a:r>
        </a:p>
      </dsp:txBody>
      <dsp:txXfrm>
        <a:off x="41123" y="1051787"/>
        <a:ext cx="10432993" cy="760154"/>
      </dsp:txXfrm>
    </dsp:sp>
    <dsp:sp modelId="{2EF59E42-9D7C-4348-AA56-AB720EDC5079}">
      <dsp:nvSpPr>
        <dsp:cNvPr id="0" name=""/>
        <dsp:cNvSpPr/>
      </dsp:nvSpPr>
      <dsp:spPr>
        <a:xfrm>
          <a:off x="0" y="1982664"/>
          <a:ext cx="10515239" cy="842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Vivek Rathore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	→ NLP &amp; AI Model handling (emotion detection, GPT-4 prompt engineering).</a:t>
          </a:r>
        </a:p>
      </dsp:txBody>
      <dsp:txXfrm>
        <a:off x="41123" y="2023787"/>
        <a:ext cx="10432993" cy="760154"/>
      </dsp:txXfrm>
    </dsp:sp>
    <dsp:sp modelId="{74E336BB-6BEF-4E86-8D15-C279AF4EAF65}">
      <dsp:nvSpPr>
        <dsp:cNvPr id="0" name=""/>
        <dsp:cNvSpPr/>
      </dsp:nvSpPr>
      <dsp:spPr>
        <a:xfrm>
          <a:off x="0" y="2954664"/>
          <a:ext cx="10515239" cy="842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Saransh Patil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	→ Database &amp; Security (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Firestore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design, encryption, journaling module).</a:t>
          </a:r>
        </a:p>
      </dsp:txBody>
      <dsp:txXfrm>
        <a:off x="41123" y="2995787"/>
        <a:ext cx="10432993" cy="760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18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5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3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1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8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03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5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26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8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61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DE2C04-8631-4977-A0BC-3445421C9F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4783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1497B-A7A8-4468-BA60-0CC7AFE75E2D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6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.springer.com/article/10.1007/s10916-020-1531-6" TargetMode="External"/><Relationship Id="rId3" Type="http://schemas.openxmlformats.org/officeDocument/2006/relationships/hyperlink" Target="https://ieeexplore.ieee.org/" TargetMode="External"/><Relationship Id="rId7" Type="http://schemas.openxmlformats.org/officeDocument/2006/relationships/hyperlink" Target="https://www.researchgate.net/publication/350462178_Bhagavad_Gita_and_Cognitive_Psychology" TargetMode="External"/><Relationship Id="rId12" Type="http://schemas.openxmlformats.org/officeDocument/2006/relationships/hyperlink" Target="https://www.paulekman.com/universal-emotions/" TargetMode="External"/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303.08774" TargetMode="External"/><Relationship Id="rId11" Type="http://schemas.openxmlformats.org/officeDocument/2006/relationships/hyperlink" Target="https://www.cs.uic.edu/~liub/FBS/SentimentAnalysis-and-OpinionMining.pdf" TargetMode="External"/><Relationship Id="rId5" Type="http://schemas.openxmlformats.org/officeDocument/2006/relationships/hyperlink" Target="https://arxiv.org/" TargetMode="External"/><Relationship Id="rId10" Type="http://schemas.openxmlformats.org/officeDocument/2006/relationships/hyperlink" Target="https://arxiv.org/pdf/1810.04805" TargetMode="External"/><Relationship Id="rId4" Type="http://schemas.openxmlformats.org/officeDocument/2006/relationships/hyperlink" Target="https://www.researchgate.net/" TargetMode="External"/><Relationship Id="rId9" Type="http://schemas.openxmlformats.org/officeDocument/2006/relationships/hyperlink" Target="https://arxiv.org/pdf/1706.03762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hyperlink" Target="https://www.kaggle.com/datasets/thedevastator/nlp-mental-health-conversations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kaggle.com/datasets/arjun83kashyap/bhagavad-gita" TargetMode="External"/><Relationship Id="rId4" Type="http://schemas.openxmlformats.org/officeDocument/2006/relationships/hyperlink" Target="https://www.kaggle.com/datasets/suchintikasarkar/sentiment-analysis-for-mental-health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uchintikasarkar/sentiment-analysis-for-mental-health" TargetMode="External"/><Relationship Id="rId2" Type="http://schemas.openxmlformats.org/officeDocument/2006/relationships/hyperlink" Target="https://www.kaggle.com/datasets/thedevastator/nlp-mental-health-conversations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kaggle.com/datasets/arjun83kashyap/bhagavad-gita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1706.03762" TargetMode="External"/><Relationship Id="rId3" Type="http://schemas.openxmlformats.org/officeDocument/2006/relationships/hyperlink" Target="https://www.researchgate.net/" TargetMode="External"/><Relationship Id="rId7" Type="http://schemas.openxmlformats.org/officeDocument/2006/relationships/hyperlink" Target="https://link.springer.com/article/10.1007/s10916-020-1531-6" TargetMode="External"/><Relationship Id="rId2" Type="http://schemas.openxmlformats.org/officeDocument/2006/relationships/hyperlink" Target="https://ieeexplore.ieee.org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researchgate.net/publication/350462178_Bhagavad_Gita_and_Cognitive_Psychology" TargetMode="External"/><Relationship Id="rId11" Type="http://schemas.openxmlformats.org/officeDocument/2006/relationships/hyperlink" Target="https://www.paulekman.com/universal-emotions/" TargetMode="External"/><Relationship Id="rId5" Type="http://schemas.openxmlformats.org/officeDocument/2006/relationships/hyperlink" Target="https://arxiv.org/pdf/2303.08774" TargetMode="External"/><Relationship Id="rId10" Type="http://schemas.openxmlformats.org/officeDocument/2006/relationships/hyperlink" Target="https://www.cs.uic.edu/~liub/FBS/SentimentAnalysis-and-OpinionMining.pdf" TargetMode="External"/><Relationship Id="rId4" Type="http://schemas.openxmlformats.org/officeDocument/2006/relationships/hyperlink" Target="https://arxiv.org/" TargetMode="External"/><Relationship Id="rId9" Type="http://schemas.openxmlformats.org/officeDocument/2006/relationships/hyperlink" Target="https://arxiv.org/pdf/1810.0480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207624" y="4867950"/>
            <a:ext cx="463475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Saransh Patil (0832CS221182)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Tushar Gawhade (0832CS221213)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Vivek Rathore (0832CS221228)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Yash Lade (0832CS221229)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723868" y="70338"/>
            <a:ext cx="8825777" cy="11720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IN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Chameli Devi Group of Institutions, Indore</a:t>
            </a:r>
            <a:b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Computer Science &amp; Engineering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0" y="35654"/>
            <a:ext cx="1722388" cy="12917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6610" y="1859542"/>
            <a:ext cx="1195753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Major Project Presentation</a:t>
            </a:r>
          </a:p>
          <a:p>
            <a:pPr algn="ctr" eaLnBrk="1" hangingPunct="1"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Session: 2025-26 (VII SEM)</a:t>
            </a:r>
          </a:p>
          <a:p>
            <a:pPr algn="ctr" eaLnBrk="1" hangingPunct="1"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on</a:t>
            </a:r>
          </a:p>
          <a:p>
            <a:pPr algn="ctr" eaLnBrk="1" hangingPunct="1"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Krishna’s Lens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646" y="33821"/>
            <a:ext cx="1607383" cy="13385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9568" y="4870450"/>
            <a:ext cx="463475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Sumeet Kothari</a:t>
            </a:r>
          </a:p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4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2D998-6596-1B24-E52A-5B420D87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5C29F-26BB-8D4D-5CCC-64DCEC33C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155065"/>
            <a:ext cx="9926320" cy="505333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fast-paced world, youth often struggle with anxiety and self-doubt after facing setbacks like failures or breakups. Inspired by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Bhagavad Gita’s principle of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Samatvam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(equanimity), Krishna’s Lens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AI-powered app that helps users reframe life events through emotional, spiritual, and strategic perspectives.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Flutter-based 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app generates constructive, multi-dimensional reflections on personal struggles. This helps users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anxiety, gain mental clarity, and grow resilient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Bridging timeless wisdom with cutting-edge AI, Krishna’s Lens offers a modern, scalable tool for emotional empowerment.</a:t>
            </a:r>
          </a:p>
          <a:p>
            <a:pPr marL="0" indent="0" algn="just">
              <a:lnSpc>
                <a:spcPct val="160000"/>
              </a:lnSpc>
              <a:buNone/>
              <a:defRPr sz="2000">
                <a:latin typeface="Times New Roman"/>
              </a:defRPr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3894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679A1-2EE7-3937-2B70-47AC6A4B5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D089D-8122-DC31-C7A8-8640B1A06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Krishna’s Lens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mobile application designed to help youth reframe stressful life events in real time.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is inspired by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Bhagavad Gita’s principle of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Samatvam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(equanimity)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promoting balanced emotional response.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NLP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three reframed perspectives for each user-submitted event: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Emotional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(validates feelings)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Spiritual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(provides deeper meaning)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Strategic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(suggests constructive action)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tool addresses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gap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India by making emotional support more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accessible, culturally relevant, and stigma-free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037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D2501-41BA-19F3-9B33-554CF580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8893B3-2678-2B36-ABE4-7173652543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424684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8584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F8EB3-3E9B-6CEE-75A5-7421A2A3B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AA090-DA5E-FCB2-AE7A-97EC7767C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983" y="1582557"/>
            <a:ext cx="10515600" cy="2781099"/>
          </a:xfrm>
        </p:spPr>
        <p:txBody>
          <a:bodyPr>
            <a:norm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users see their problems from three different views – emotional, spiritual, and strategic.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stress and anxiety by giving calming and meaningful responses instantly.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support anytime, anywhere, without needing a therapist or counselor.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teach users how to handle life problems more wisely and positively.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culturally rooted website that connects Indian youth with Gita-based emotional balance.</a:t>
            </a:r>
          </a:p>
        </p:txBody>
      </p:sp>
    </p:spTree>
    <p:extLst>
      <p:ext uri="{BB962C8B-B14F-4D97-AF65-F5344CB8AC3E}">
        <p14:creationId xmlns:p14="http://schemas.microsoft.com/office/powerpoint/2010/main" val="2653231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F3838-672C-B6EA-3B38-4BCFBB986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3D9A9-0786-3CF1-A23C-D6BC377D7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Youth aged 15–30 facing emotional challenges like breakups, exam stress, or failure.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Support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can type their problems; voice input and Hindi support will be added later.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Lens Output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app provides three views (emotional, spiritual, strategic) for every situation.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Expansion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Can add more lenses like community advice, mentor view, and meditation tools.</a:t>
            </a:r>
          </a:p>
          <a:p>
            <a:pPr algn="just">
              <a:defRPr sz="2000">
                <a:latin typeface="Times New Roman"/>
              </a:defRPr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54463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DC17-D729-05A7-EA7F-50B3711D8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195" y="118449"/>
            <a:ext cx="10515600" cy="7406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6DD27F-7D8C-5C92-0F76-421447DD98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802396"/>
              </p:ext>
            </p:extLst>
          </p:nvPr>
        </p:nvGraphicFramePr>
        <p:xfrm>
          <a:off x="838199" y="930667"/>
          <a:ext cx="10609613" cy="5813015"/>
        </p:xfrm>
        <a:graphic>
          <a:graphicData uri="http://schemas.openxmlformats.org/drawingml/2006/table">
            <a:tbl>
              <a:tblPr/>
              <a:tblGrid>
                <a:gridCol w="571501">
                  <a:extLst>
                    <a:ext uri="{9D8B030D-6E8A-4147-A177-3AD203B41FA5}">
                      <a16:colId xmlns:a16="http://schemas.microsoft.com/office/drawing/2014/main" val="1540333773"/>
                    </a:ext>
                  </a:extLst>
                </a:gridCol>
                <a:gridCol w="2018793">
                  <a:extLst>
                    <a:ext uri="{9D8B030D-6E8A-4147-A177-3AD203B41FA5}">
                      <a16:colId xmlns:a16="http://schemas.microsoft.com/office/drawing/2014/main" val="1183869786"/>
                    </a:ext>
                  </a:extLst>
                </a:gridCol>
                <a:gridCol w="1986160">
                  <a:extLst>
                    <a:ext uri="{9D8B030D-6E8A-4147-A177-3AD203B41FA5}">
                      <a16:colId xmlns:a16="http://schemas.microsoft.com/office/drawing/2014/main" val="4118294138"/>
                    </a:ext>
                  </a:extLst>
                </a:gridCol>
                <a:gridCol w="2307373">
                  <a:extLst>
                    <a:ext uri="{9D8B030D-6E8A-4147-A177-3AD203B41FA5}">
                      <a16:colId xmlns:a16="http://schemas.microsoft.com/office/drawing/2014/main" val="2217345277"/>
                    </a:ext>
                  </a:extLst>
                </a:gridCol>
                <a:gridCol w="1862893">
                  <a:extLst>
                    <a:ext uri="{9D8B030D-6E8A-4147-A177-3AD203B41FA5}">
                      <a16:colId xmlns:a16="http://schemas.microsoft.com/office/drawing/2014/main" val="3308791242"/>
                    </a:ext>
                  </a:extLst>
                </a:gridCol>
                <a:gridCol w="1862893">
                  <a:extLst>
                    <a:ext uri="{9D8B030D-6E8A-4147-A177-3AD203B41FA5}">
                      <a16:colId xmlns:a16="http://schemas.microsoft.com/office/drawing/2014/main" val="977812128"/>
                    </a:ext>
                  </a:extLst>
                </a:gridCol>
              </a:tblGrid>
              <a:tr h="197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Author(s), Year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/ Work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 / Key Idea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Project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Link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70068"/>
                  </a:ext>
                </a:extLst>
              </a:tr>
              <a:tr h="607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al., 2025 [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action="ppaction://hlinksldjump"/>
                        </a:rPr>
                        <a:t>10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Emotion-Aware Chatbots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voice + text for improved emotional understanding in chatbots.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emotion detection in Krishna Lens.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IEEE Xplore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930880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Patel &amp; Singh, 2025 [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action="ppaction://hlinksldjump"/>
                        </a:rPr>
                        <a:t>11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AI-powered Spiritual Guidance Systems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scriptures with AI for mental wellness support.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Directly relevant for integrating Bhagavad Gita content.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ResearchGate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595429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Brown et al., 2024 [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action="ppaction://hlinksldjump"/>
                        </a:rPr>
                        <a:t>12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LLMs for Personalized Wellbeing Support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Showed GPT-style models helping with stress management &amp; empathy.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Inspires adaptive responses for user prompts.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arXiv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27452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OpenAI, 2023 [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action="ppaction://hlinksldjump"/>
                        </a:rPr>
                        <a:t>13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GPT-4 Technical Report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multimodal reasoning &amp; human-aligned answers.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Backbone for generating contextual 3-lens responses.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OpenAI Report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105604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Gupta et al., 2022 [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action="ppaction://hlinksldjump"/>
                        </a:rPr>
                        <a:t>14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Bhagavad Gita and AI-based Resilience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Mapped verses of Gita to coping strategies.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spiritual grounding for your project.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ResearchGate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410635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 &amp; Mehta, 2021 [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action="ppaction://hlinksldjump"/>
                        </a:rPr>
                        <a:t>15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 Recognition in AI for Mental Health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 emotion recognition for therapeutic chatbots.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emotional lens development.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Springer Link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193924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Vaswani et al., 2020 [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action="ppaction://hlinksldjump"/>
                        </a:rPr>
                        <a:t>16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Attention is All You Need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Foundation of GPT and modern emotion-aware models.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processing user text in Krishna Lens.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/>
                        </a:rPr>
                        <a:t>arXiv PDF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552914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Devlin et al., 2019 [17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action="ppaction://hlinksldjump"/>
                        </a:rPr>
                        <a:t>]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BERT: Deep Contextual Understanding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bidirectional transformers for better NLP.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improve accuracy in detecting context/emotions.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/>
                        </a:rPr>
                        <a:t>arXiv PDF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020666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Liu et al., 2018 [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action="ppaction://hlinksldjump"/>
                        </a:rPr>
                        <a:t>18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Sentiment Analysis Advances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Surveyed opinion mining techniques &amp; challenges.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emotion analysis pipeline.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1"/>
                        </a:rPr>
                        <a:t>UIC PDF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55240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Ekman, 2016 [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action="ppaction://hlinksldjump"/>
                        </a:rPr>
                        <a:t>19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Emotions Framework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Classified universal emotions (anger, joy, sadness, etc.).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Forms the base for mapping user feelings.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2"/>
                        </a:rPr>
                        <a:t>Paul Ekman Group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933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71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03505-9FDB-BF56-1144-CFB91B0A5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73" y="18224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E3313-1B15-2951-5AF5-A0B6303A9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808"/>
            <a:ext cx="10515600" cy="4912243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Emotion &amp; Spirituality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AI systems focus on emotion detection or chatbot interaction but rarely integrate emotional states with spiritual wisdom.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Personalized Multi-Perspective Guidance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chatbots provide generic replies; they do not deliver structured responses across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emotional, spiritual, and strategic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dimensions.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Contextual Religious/Philosophical Datasets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research works have utilized Bhagavad Gita verses as a dataset for AI-based guidance, leaving a gap in spiritually grounded emotional support.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Conversational Flexibility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AI tools are either formal (therapeutic chatbots) or casual (assistants) but lack a dual-mode system (casual + deep guidance).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&amp; Emotion Mapping Unexplored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has not adequately explored token-based analysis of prompts to map emotions and link them with suitable philosophical or motivational guidance.</a:t>
            </a:r>
          </a:p>
          <a:p>
            <a:pPr>
              <a:lnSpc>
                <a:spcPct val="11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936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6F90-8478-5BD0-32C6-A1EC9DAA5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667"/>
            <a:ext cx="10515600" cy="745067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Block Diagram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A76189-47C6-3DD9-DAB4-3C85191ACE72}"/>
              </a:ext>
            </a:extLst>
          </p:cNvPr>
          <p:cNvSpPr/>
          <p:nvPr/>
        </p:nvSpPr>
        <p:spPr>
          <a:xfrm>
            <a:off x="1735666" y="1275821"/>
            <a:ext cx="2065866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Input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F5A9DC-AC9D-6BB6-9BDC-1F755C21BA94}"/>
              </a:ext>
            </a:extLst>
          </p:cNvPr>
          <p:cNvSpPr/>
          <p:nvPr/>
        </p:nvSpPr>
        <p:spPr>
          <a:xfrm>
            <a:off x="4842935" y="1275821"/>
            <a:ext cx="2379132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Input</a:t>
            </a:r>
          </a:p>
          <a:p>
            <a:pPr algn="ctr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(Clean, Find Emotion)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0CFF3E-9276-98A2-DBA0-C5CEF1EE7147}"/>
              </a:ext>
            </a:extLst>
          </p:cNvPr>
          <p:cNvSpPr/>
          <p:nvPr/>
        </p:nvSpPr>
        <p:spPr>
          <a:xfrm>
            <a:off x="8593667" y="1275821"/>
            <a:ext cx="2065866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dirty="0">
              <a:solidFill>
                <a:srgbClr val="4949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Relevant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(Verses, Advice)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9D3B16-650E-4F54-FE4F-0B8671A0EA46}"/>
              </a:ext>
            </a:extLst>
          </p:cNvPr>
          <p:cNvSpPr/>
          <p:nvPr/>
        </p:nvSpPr>
        <p:spPr>
          <a:xfrm>
            <a:off x="4842935" y="2606409"/>
            <a:ext cx="2065866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Casual?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(Just chat)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C4280D-A026-6A39-05AB-38BEA001DCB4}"/>
              </a:ext>
            </a:extLst>
          </p:cNvPr>
          <p:cNvSpPr/>
          <p:nvPr/>
        </p:nvSpPr>
        <p:spPr>
          <a:xfrm>
            <a:off x="8593667" y="2632372"/>
            <a:ext cx="2065866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Guided?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(Need help)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124957-24CA-00CE-B15B-674A1F7B0DE5}"/>
              </a:ext>
            </a:extLst>
          </p:cNvPr>
          <p:cNvSpPr/>
          <p:nvPr/>
        </p:nvSpPr>
        <p:spPr>
          <a:xfrm>
            <a:off x="4842935" y="3988923"/>
            <a:ext cx="5994400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Helpful Response</a:t>
            </a:r>
          </a:p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 Lenses: Emotional, Spiritual, Strategic)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D455E20-48DB-72F5-F1D5-953FC8AE521C}"/>
              </a:ext>
            </a:extLst>
          </p:cNvPr>
          <p:cNvSpPr/>
          <p:nvPr/>
        </p:nvSpPr>
        <p:spPr>
          <a:xfrm>
            <a:off x="6671733" y="5475288"/>
            <a:ext cx="1701800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Answer To The User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C1A36B02-B117-5F9A-85C7-FCD203C93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7044"/>
            <a:ext cx="22442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5F8B53-A1AF-4A86-D09D-9885EA348C4D}"/>
              </a:ext>
            </a:extLst>
          </p:cNvPr>
          <p:cNvCxnSpPr/>
          <p:nvPr/>
        </p:nvCxnSpPr>
        <p:spPr>
          <a:xfrm>
            <a:off x="3801532" y="1812793"/>
            <a:ext cx="1016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FE8D3EE-D22D-FC2E-4B8A-0A8E49285A09}"/>
              </a:ext>
            </a:extLst>
          </p:cNvPr>
          <p:cNvCxnSpPr>
            <a:cxnSpLocks/>
          </p:cNvCxnSpPr>
          <p:nvPr/>
        </p:nvCxnSpPr>
        <p:spPr>
          <a:xfrm>
            <a:off x="7332133" y="1745986"/>
            <a:ext cx="11684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45EF7D-AE97-F20C-4D5D-1EB34C9A6E85}"/>
              </a:ext>
            </a:extLst>
          </p:cNvPr>
          <p:cNvCxnSpPr>
            <a:cxnSpLocks/>
          </p:cNvCxnSpPr>
          <p:nvPr/>
        </p:nvCxnSpPr>
        <p:spPr>
          <a:xfrm>
            <a:off x="5850465" y="2277533"/>
            <a:ext cx="0" cy="3123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C662721-D62C-6DD8-5203-C8010EDB6275}"/>
              </a:ext>
            </a:extLst>
          </p:cNvPr>
          <p:cNvCxnSpPr>
            <a:cxnSpLocks/>
          </p:cNvCxnSpPr>
          <p:nvPr/>
        </p:nvCxnSpPr>
        <p:spPr>
          <a:xfrm>
            <a:off x="9694332" y="2294069"/>
            <a:ext cx="0" cy="3123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E81279D-41AE-994C-46F2-AA94C337AC05}"/>
              </a:ext>
            </a:extLst>
          </p:cNvPr>
          <p:cNvCxnSpPr>
            <a:cxnSpLocks/>
          </p:cNvCxnSpPr>
          <p:nvPr/>
        </p:nvCxnSpPr>
        <p:spPr>
          <a:xfrm>
            <a:off x="5875868" y="3676583"/>
            <a:ext cx="0" cy="3123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29A2E06-24DB-9BC0-DCA2-C7A98297057A}"/>
              </a:ext>
            </a:extLst>
          </p:cNvPr>
          <p:cNvCxnSpPr>
            <a:cxnSpLocks/>
          </p:cNvCxnSpPr>
          <p:nvPr/>
        </p:nvCxnSpPr>
        <p:spPr>
          <a:xfrm>
            <a:off x="9702797" y="3673770"/>
            <a:ext cx="0" cy="3123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F1F6369-A8B1-3AF5-B15C-396A4E6C1B4C}"/>
              </a:ext>
            </a:extLst>
          </p:cNvPr>
          <p:cNvCxnSpPr>
            <a:cxnSpLocks/>
          </p:cNvCxnSpPr>
          <p:nvPr/>
        </p:nvCxnSpPr>
        <p:spPr>
          <a:xfrm>
            <a:off x="7636932" y="4990635"/>
            <a:ext cx="0" cy="4846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276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9B170-0E66-235E-BDDC-CECF162AC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80854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Methodology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68BCB4C-93DE-FA6E-BE01-032AEAE09F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7493993"/>
              </p:ext>
            </p:extLst>
          </p:nvPr>
        </p:nvGraphicFramePr>
        <p:xfrm>
          <a:off x="838080" y="1009403"/>
          <a:ext cx="10515240" cy="4383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9548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FA8D7-2B99-FF91-ACC1-E619D278D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Roles &amp; Responsibility (Module Division)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3DF094D-F664-1BA4-9178-994AD20A93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2996212"/>
              </p:ext>
            </p:extLst>
          </p:nvPr>
        </p:nvGraphicFramePr>
        <p:xfrm>
          <a:off x="838080" y="1439602"/>
          <a:ext cx="10515240" cy="38357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8623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7F57A-50CC-4257-35D1-A84434367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of Project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D8C19-D75C-114F-6EB8-13295A461D6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1205803"/>
            <a:ext cx="10515240" cy="2302898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AutoNum type="alphaLcParenR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Potential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India, 70% youth of 15–30 age group face stress/anxiety issues.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adoption in mental health startups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Wysa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Youper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Krishna’s Lens culturally unique solution.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for partnerships with schools, colleges, and wellness apps.</a:t>
            </a:r>
          </a:p>
        </p:txBody>
      </p:sp>
    </p:spTree>
    <p:extLst>
      <p:ext uri="{BB962C8B-B14F-4D97-AF65-F5344CB8AC3E}">
        <p14:creationId xmlns:p14="http://schemas.microsoft.com/office/powerpoint/2010/main" val="3313378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17CDD-65DF-EE55-62ED-8CA11AC0430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393539"/>
            <a:ext cx="10515240" cy="578298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Innovativeness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Three-Lens Approach (Emotional + Spiritual + Strategic)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unique compared to existing apps.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Bhagavad Gita verses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AI-guided reframing.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Dual-mode design: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Casual chat + Deep guidance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Usefulness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reduction (25–35%)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coach + counselor feel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anytime, anywhere.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Non-judgmental, private &amp; stigma-free solution.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large youth base with cultural fit.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852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93450-1A59-E082-2C6E-9C7359B06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 Specification (SRS):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2597F-784B-3BFD-848D-76D1CDADAAD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938563" y="1827024"/>
            <a:ext cx="10515240" cy="2942693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login/signup with secure authentication.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input via text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detection &amp; multi-lens response generation.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Bookmarking &amp; journaling of responses.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 collection.</a:t>
            </a:r>
          </a:p>
        </p:txBody>
      </p:sp>
    </p:spTree>
    <p:extLst>
      <p:ext uri="{BB962C8B-B14F-4D97-AF65-F5344CB8AC3E}">
        <p14:creationId xmlns:p14="http://schemas.microsoft.com/office/powerpoint/2010/main" val="3185939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8FE51-125E-0673-929B-AD2BB968E42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380" y="1155559"/>
            <a:ext cx="10515240" cy="505110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 under 2–3 seconds.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End-to-end encryption, secure storage.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1000+ concurrent users.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Uptime 99% with Firebase.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Simple UI for youth (minimal learning curve).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Interface Requirements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Flutter-based mobile interface (Android/iOS).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Node.js 20 with Firebase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APIs: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GPT-4/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/Gemini via secure API calls.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Dataset: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Bhagavad Gita JSON, Emotional &amp; Strategic datasets.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322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19E78-FB05-F378-B6A5-A799C37F5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2260" y="418978"/>
            <a:ext cx="9144000" cy="477837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Details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ED5C22-15A1-41F2-7A0B-F968BC97A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659176"/>
              </p:ext>
            </p:extLst>
          </p:nvPr>
        </p:nvGraphicFramePr>
        <p:xfrm>
          <a:off x="1162260" y="1600199"/>
          <a:ext cx="10443585" cy="28254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9497">
                  <a:extLst>
                    <a:ext uri="{9D8B030D-6E8A-4147-A177-3AD203B41FA5}">
                      <a16:colId xmlns:a16="http://schemas.microsoft.com/office/drawing/2014/main" val="3069403564"/>
                    </a:ext>
                  </a:extLst>
                </a:gridCol>
                <a:gridCol w="3719099">
                  <a:extLst>
                    <a:ext uri="{9D8B030D-6E8A-4147-A177-3AD203B41FA5}">
                      <a16:colId xmlns:a16="http://schemas.microsoft.com/office/drawing/2014/main" val="2342951260"/>
                    </a:ext>
                  </a:extLst>
                </a:gridCol>
                <a:gridCol w="2654989">
                  <a:extLst>
                    <a:ext uri="{9D8B030D-6E8A-4147-A177-3AD203B41FA5}">
                      <a16:colId xmlns:a16="http://schemas.microsoft.com/office/drawing/2014/main" val="1355625815"/>
                    </a:ext>
                  </a:extLst>
                </a:gridCol>
              </a:tblGrid>
              <a:tr h="542874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entries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4287524"/>
                  </a:ext>
                </a:extLst>
              </a:tr>
              <a:tr h="791046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nlp</a:t>
                      </a:r>
                      <a:r>
                        <a:rPr 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-mental-health-conversations</a:t>
                      </a:r>
                      <a:r>
                        <a:rPr 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7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NLP Mental Health Conversations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68367"/>
                  </a:ext>
                </a:extLst>
              </a:tr>
              <a:tr h="803868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sentiment-analysis-for-mental-health 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[8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]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Sentiment Analysis for Mental Health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51074 (unique values)</a:t>
                      </a:r>
                      <a:endParaRPr 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053994"/>
                  </a:ext>
                </a:extLst>
              </a:tr>
              <a:tr h="68764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bhagavad-gita</a:t>
                      </a:r>
                      <a:r>
                        <a:rPr 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[9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]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Bhagvad Gita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 chapters, 700 shlokas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1676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263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Reference</a:t>
            </a:r>
            <a:endParaRPr lang="en-US" sz="4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ADE0D3-4C38-7B79-AA7D-49BCBE892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218196"/>
              </p:ext>
            </p:extLst>
          </p:nvPr>
        </p:nvGraphicFramePr>
        <p:xfrm>
          <a:off x="948611" y="1723644"/>
          <a:ext cx="10747669" cy="45720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867165">
                  <a:extLst>
                    <a:ext uri="{9D8B030D-6E8A-4147-A177-3AD203B41FA5}">
                      <a16:colId xmlns:a16="http://schemas.microsoft.com/office/drawing/2014/main" val="1693526303"/>
                    </a:ext>
                  </a:extLst>
                </a:gridCol>
                <a:gridCol w="9880504">
                  <a:extLst>
                    <a:ext uri="{9D8B030D-6E8A-4147-A177-3AD203B41FA5}">
                      <a16:colId xmlns:a16="http://schemas.microsoft.com/office/drawing/2014/main" val="341994025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S.N.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 Reference Sources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4886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Stanford HAI (2024): "LLM Therapeutic Efficacy Matching Human Therapists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3742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2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Vellakkal</a:t>
                      </a:r>
                      <a:r>
                        <a:rPr lang="en-US" sz="1800" dirty="0"/>
                        <a:t>, S. et al., 'Mental Health of Indian Youth', The Lancet, 2022.’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2437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3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American Psychological Association, 'Cognitive Reframing Meta‑Analysis', 2022.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722834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4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Bhagavad Gita 2.48 – '</a:t>
                      </a:r>
                      <a:r>
                        <a:rPr lang="en-US" sz="1800" dirty="0" err="1"/>
                        <a:t>Samatvam</a:t>
                      </a:r>
                      <a:r>
                        <a:rPr lang="en-US" sz="1800" dirty="0"/>
                        <a:t> Yoga </a:t>
                      </a:r>
                      <a:r>
                        <a:rPr lang="en-US" sz="1800" dirty="0" err="1"/>
                        <a:t>Uchyate</a:t>
                      </a:r>
                      <a:r>
                        <a:rPr lang="en-US" sz="1800" dirty="0"/>
                        <a:t>’.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1907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Radford, A. et al., 'Language Models as Few‑Shot Learners', 2024.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335378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NCERT Report on Academic Stress, 2021.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796519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https://www.kaggle.com/datasets/thedevastator/nlp-mental-health-conversations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22718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3"/>
                        </a:rPr>
                        <a:t>https://www.kaggle.com/datasets/suchintikasarkar/sentiment-analysis-for-mental-health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642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4"/>
                        </a:rPr>
                        <a:t>https://www.kaggle.com/datasets/arjun83kashyap/bhagavad-gita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95639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CF115-A585-7B3C-5412-45EF22371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52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105BE7-BBA4-4524-78E2-8790CDCBD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390349"/>
              </p:ext>
            </p:extLst>
          </p:nvPr>
        </p:nvGraphicFramePr>
        <p:xfrm>
          <a:off x="953947" y="1420511"/>
          <a:ext cx="10399854" cy="5029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839102">
                  <a:extLst>
                    <a:ext uri="{9D8B030D-6E8A-4147-A177-3AD203B41FA5}">
                      <a16:colId xmlns:a16="http://schemas.microsoft.com/office/drawing/2014/main" val="2955845926"/>
                    </a:ext>
                  </a:extLst>
                </a:gridCol>
                <a:gridCol w="9560752">
                  <a:extLst>
                    <a:ext uri="{9D8B030D-6E8A-4147-A177-3AD203B41FA5}">
                      <a16:colId xmlns:a16="http://schemas.microsoft.com/office/drawing/2014/main" val="25870714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Reference Sources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02368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https://ieeexplore.ieee.org/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4236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https://www.researchgate.net/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55583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https://arxiv.org/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93618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https://arxiv.org/pdf/2303.08774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6159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https://www.researchgate.net/publication/350462178_Bhagavad_Gita_and_Cognitive_Psychology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1954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https://link.springer.com/article/10.1007/s10916-020-1531-6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272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https://arxiv.org/pdf/1706.03762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916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/>
                        </a:rPr>
                        <a:t>https://arxiv.org/pdf/1810.04805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56752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/>
                        </a:rPr>
                        <a:t>https://www.cs.uic.edu/~liub/FBS/SentimentAnalysis-and-OpinionMining.pdf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63748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1"/>
                        </a:rPr>
                        <a:t>https://www.paulekman.com/universal-emotions/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486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4641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1285</TotalTime>
  <Words>1744</Words>
  <Application>Microsoft Office PowerPoint</Application>
  <PresentationFormat>Widescreen</PresentationFormat>
  <Paragraphs>235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Abstract</vt:lpstr>
      <vt:lpstr>Introduction</vt:lpstr>
      <vt:lpstr>Problem Statement</vt:lpstr>
      <vt:lpstr>Objectives</vt:lpstr>
      <vt:lpstr>Scope</vt:lpstr>
      <vt:lpstr>Literature Review</vt:lpstr>
      <vt:lpstr>Research Gap</vt:lpstr>
      <vt:lpstr>System Block Diagram</vt:lpstr>
      <vt:lpstr>Design Methodology </vt:lpstr>
      <vt:lpstr>Roles &amp; Responsibility (Module Division) </vt:lpstr>
      <vt:lpstr>Contribution of Project </vt:lpstr>
      <vt:lpstr>PowerPoint Presentation</vt:lpstr>
      <vt:lpstr>Software Requirement Specification (SRS):</vt:lpstr>
      <vt:lpstr>PowerPoint Presentation</vt:lpstr>
      <vt:lpstr>Data Collection Details</vt:lpstr>
      <vt:lpstr>Reference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yash lade</dc:creator>
  <cp:lastModifiedBy>Yash lade</cp:lastModifiedBy>
  <cp:revision>167</cp:revision>
  <dcterms:created xsi:type="dcterms:W3CDTF">2018-08-23T06:16:55Z</dcterms:created>
  <dcterms:modified xsi:type="dcterms:W3CDTF">2025-11-08T04:44:27Z</dcterms:modified>
</cp:coreProperties>
</file>