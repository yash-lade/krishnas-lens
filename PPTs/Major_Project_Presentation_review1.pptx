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71" r:id="rId3"/>
    <p:sldId id="273" r:id="rId4"/>
    <p:sldId id="285" r:id="rId5"/>
    <p:sldId id="272" r:id="rId6"/>
    <p:sldId id="274" r:id="rId7"/>
    <p:sldId id="275" r:id="rId8"/>
    <p:sldId id="276" r:id="rId9"/>
    <p:sldId id="286" r:id="rId10"/>
    <p:sldId id="287" r:id="rId11"/>
    <p:sldId id="277" r:id="rId12"/>
    <p:sldId id="278" r:id="rId13"/>
    <p:sldId id="279" r:id="rId14"/>
    <p:sldId id="280" r:id="rId15"/>
    <p:sldId id="281" r:id="rId16"/>
    <p:sldId id="289" r:id="rId17"/>
    <p:sldId id="282" r:id="rId18"/>
    <p:sldId id="283" r:id="rId19"/>
    <p:sldId id="29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AC5735-7105-4A18-B468-5DF3FAE4C5DB}">
          <p14:sldIdLst>
            <p14:sldId id="257"/>
            <p14:sldId id="271"/>
            <p14:sldId id="273"/>
            <p14:sldId id="285"/>
            <p14:sldId id="272"/>
            <p14:sldId id="274"/>
            <p14:sldId id="275"/>
            <p14:sldId id="276"/>
            <p14:sldId id="286"/>
            <p14:sldId id="287"/>
            <p14:sldId id="277"/>
            <p14:sldId id="278"/>
            <p14:sldId id="279"/>
            <p14:sldId id="280"/>
            <p14:sldId id="281"/>
            <p14:sldId id="289"/>
            <p14:sldId id="282"/>
            <p14:sldId id="283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00"/>
    <a:srgbClr val="DD8709"/>
    <a:srgbClr val="B3C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91961" autoAdjust="0"/>
  </p:normalViewPr>
  <p:slideViewPr>
    <p:cSldViewPr snapToGrid="0">
      <p:cViewPr>
        <p:scale>
          <a:sx n="66" d="100"/>
          <a:sy n="66" d="100"/>
        </p:scale>
        <p:origin x="504" y="-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BB41F8-1C9C-4EB0-96A2-61FB8F43FB9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835659B2-67FC-4C8C-9434-6F99AED8A0C1}">
      <dgm:prSet/>
      <dgm:spPr/>
      <dgm:t>
        <a:bodyPr/>
        <a:lstStyle/>
        <a:p>
          <a:r>
            <a:rPr lang="en-US"/>
            <a:t>Escalating academic, social, and relationship stress among youth triggers impulsive reactions, anxiety, and depression.</a:t>
          </a:r>
          <a:endParaRPr lang="en-IN"/>
        </a:p>
      </dgm:t>
    </dgm:pt>
    <dgm:pt modelId="{889F50D7-637C-4738-A3AE-0577C1758F20}" type="parTrans" cxnId="{B8D42117-D9AD-4804-B8EB-8CADC0D65066}">
      <dgm:prSet/>
      <dgm:spPr/>
      <dgm:t>
        <a:bodyPr/>
        <a:lstStyle/>
        <a:p>
          <a:endParaRPr lang="en-IN"/>
        </a:p>
      </dgm:t>
    </dgm:pt>
    <dgm:pt modelId="{2D0EF0D4-732F-47A6-B4A9-FF68DA1971FC}" type="sibTrans" cxnId="{B8D42117-D9AD-4804-B8EB-8CADC0D65066}">
      <dgm:prSet/>
      <dgm:spPr/>
      <dgm:t>
        <a:bodyPr/>
        <a:lstStyle/>
        <a:p>
          <a:endParaRPr lang="en-IN"/>
        </a:p>
      </dgm:t>
    </dgm:pt>
    <dgm:pt modelId="{966A5EB2-E477-4B38-B21D-6DCF4042011E}">
      <dgm:prSet/>
      <dgm:spPr/>
      <dgm:t>
        <a:bodyPr/>
        <a:lstStyle/>
        <a:p>
          <a:r>
            <a:rPr lang="en-US"/>
            <a:t>Existing mental‑health apps rarely offer culturally grounded or multi‑perspective support.</a:t>
          </a:r>
          <a:endParaRPr lang="en-IN"/>
        </a:p>
      </dgm:t>
    </dgm:pt>
    <dgm:pt modelId="{801F8672-5183-4FB6-A365-99801ADBD564}" type="parTrans" cxnId="{B64A9492-6CEB-498F-825A-64EEE7C8D700}">
      <dgm:prSet/>
      <dgm:spPr/>
      <dgm:t>
        <a:bodyPr/>
        <a:lstStyle/>
        <a:p>
          <a:endParaRPr lang="en-IN"/>
        </a:p>
      </dgm:t>
    </dgm:pt>
    <dgm:pt modelId="{87BAC04E-0C07-4BB1-B0FC-0C802EACD883}" type="sibTrans" cxnId="{B64A9492-6CEB-498F-825A-64EEE7C8D700}">
      <dgm:prSet/>
      <dgm:spPr/>
      <dgm:t>
        <a:bodyPr/>
        <a:lstStyle/>
        <a:p>
          <a:endParaRPr lang="en-IN"/>
        </a:p>
      </dgm:t>
    </dgm:pt>
    <dgm:pt modelId="{5F539C8E-3CAD-47F4-95C7-16C1EDBD1591}">
      <dgm:prSet/>
      <dgm:spPr/>
      <dgm:t>
        <a:bodyPr/>
        <a:lstStyle/>
        <a:p>
          <a:r>
            <a:rPr lang="en-US"/>
            <a:t>Professional therapy is costly, stigmatized, or unavailable in real time.</a:t>
          </a:r>
          <a:endParaRPr lang="en-IN"/>
        </a:p>
      </dgm:t>
    </dgm:pt>
    <dgm:pt modelId="{DE13B43C-E37A-44E4-A5B9-5ECB63D68957}" type="parTrans" cxnId="{B486B447-622D-49E3-9DC0-48278B593EB8}">
      <dgm:prSet/>
      <dgm:spPr/>
      <dgm:t>
        <a:bodyPr/>
        <a:lstStyle/>
        <a:p>
          <a:endParaRPr lang="en-IN"/>
        </a:p>
      </dgm:t>
    </dgm:pt>
    <dgm:pt modelId="{98A89BC7-49ED-43B9-92F3-2A7555CB37B7}" type="sibTrans" cxnId="{B486B447-622D-49E3-9DC0-48278B593EB8}">
      <dgm:prSet/>
      <dgm:spPr/>
      <dgm:t>
        <a:bodyPr/>
        <a:lstStyle/>
        <a:p>
          <a:endParaRPr lang="en-IN"/>
        </a:p>
      </dgm:t>
    </dgm:pt>
    <dgm:pt modelId="{B882FBE6-252B-4E10-9A16-230E70C89E3C}">
      <dgm:prSet/>
      <dgm:spPr/>
      <dgm:t>
        <a:bodyPr/>
        <a:lstStyle/>
        <a:p>
          <a:r>
            <a:rPr lang="en-US"/>
            <a:t>Need: an always‑available, AI‑driven reframing tool rooted in Indian wisdom that restores emotional balance.</a:t>
          </a:r>
          <a:endParaRPr lang="en-IN"/>
        </a:p>
      </dgm:t>
    </dgm:pt>
    <dgm:pt modelId="{09150951-5B8B-4E5C-8DCF-0282303E371A}" type="parTrans" cxnId="{28829D19-DADC-4DFA-93BD-17A4B096755C}">
      <dgm:prSet/>
      <dgm:spPr/>
      <dgm:t>
        <a:bodyPr/>
        <a:lstStyle/>
        <a:p>
          <a:endParaRPr lang="en-IN"/>
        </a:p>
      </dgm:t>
    </dgm:pt>
    <dgm:pt modelId="{A7D95A39-CAA4-41FB-9D73-38BC487A6FAA}" type="sibTrans" cxnId="{28829D19-DADC-4DFA-93BD-17A4B096755C}">
      <dgm:prSet/>
      <dgm:spPr/>
      <dgm:t>
        <a:bodyPr/>
        <a:lstStyle/>
        <a:p>
          <a:endParaRPr lang="en-IN"/>
        </a:p>
      </dgm:t>
    </dgm:pt>
    <dgm:pt modelId="{628AA833-BEE2-4802-9009-E034F6759F98}" type="pres">
      <dgm:prSet presAssocID="{27BB41F8-1C9C-4EB0-96A2-61FB8F43FB9E}" presName="linear" presStyleCnt="0">
        <dgm:presLayoutVars>
          <dgm:animLvl val="lvl"/>
          <dgm:resizeHandles val="exact"/>
        </dgm:presLayoutVars>
      </dgm:prSet>
      <dgm:spPr/>
    </dgm:pt>
    <dgm:pt modelId="{9A186FB4-7D3E-4BF3-864C-6F82E7A239AC}" type="pres">
      <dgm:prSet presAssocID="{835659B2-67FC-4C8C-9434-6F99AED8A0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3E149F-510A-4D38-B1D8-4A22DED7F7B1}" type="pres">
      <dgm:prSet presAssocID="{2D0EF0D4-732F-47A6-B4A9-FF68DA1971FC}" presName="spacer" presStyleCnt="0"/>
      <dgm:spPr/>
    </dgm:pt>
    <dgm:pt modelId="{8E8D0812-0DBF-42DA-9410-1E8F8D8FDFEF}" type="pres">
      <dgm:prSet presAssocID="{966A5EB2-E477-4B38-B21D-6DCF404201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7F64A6-0611-4A95-9E51-2879B0D962F6}" type="pres">
      <dgm:prSet presAssocID="{87BAC04E-0C07-4BB1-B0FC-0C802EACD883}" presName="spacer" presStyleCnt="0"/>
      <dgm:spPr/>
    </dgm:pt>
    <dgm:pt modelId="{0A937F46-7334-4800-804C-669DDFA8E71E}" type="pres">
      <dgm:prSet presAssocID="{5F539C8E-3CAD-47F4-95C7-16C1EDBD15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7B6335-82CE-4114-9447-45ADDAAAB2D3}" type="pres">
      <dgm:prSet presAssocID="{98A89BC7-49ED-43B9-92F3-2A7555CB37B7}" presName="spacer" presStyleCnt="0"/>
      <dgm:spPr/>
    </dgm:pt>
    <dgm:pt modelId="{98BE3383-01B8-4184-B44C-18EF5240E170}" type="pres">
      <dgm:prSet presAssocID="{B882FBE6-252B-4E10-9A16-230E70C89E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D42117-D9AD-4804-B8EB-8CADC0D65066}" srcId="{27BB41F8-1C9C-4EB0-96A2-61FB8F43FB9E}" destId="{835659B2-67FC-4C8C-9434-6F99AED8A0C1}" srcOrd="0" destOrd="0" parTransId="{889F50D7-637C-4738-A3AE-0577C1758F20}" sibTransId="{2D0EF0D4-732F-47A6-B4A9-FF68DA1971FC}"/>
    <dgm:cxn modelId="{28829D19-DADC-4DFA-93BD-17A4B096755C}" srcId="{27BB41F8-1C9C-4EB0-96A2-61FB8F43FB9E}" destId="{B882FBE6-252B-4E10-9A16-230E70C89E3C}" srcOrd="3" destOrd="0" parTransId="{09150951-5B8B-4E5C-8DCF-0282303E371A}" sibTransId="{A7D95A39-CAA4-41FB-9D73-38BC487A6FAA}"/>
    <dgm:cxn modelId="{65F9815F-8CDB-44B4-9DF0-4BAF0EAB8EDD}" type="presOf" srcId="{966A5EB2-E477-4B38-B21D-6DCF4042011E}" destId="{8E8D0812-0DBF-42DA-9410-1E8F8D8FDFEF}" srcOrd="0" destOrd="0" presId="urn:microsoft.com/office/officeart/2005/8/layout/vList2"/>
    <dgm:cxn modelId="{B486B447-622D-49E3-9DC0-48278B593EB8}" srcId="{27BB41F8-1C9C-4EB0-96A2-61FB8F43FB9E}" destId="{5F539C8E-3CAD-47F4-95C7-16C1EDBD1591}" srcOrd="2" destOrd="0" parTransId="{DE13B43C-E37A-44E4-A5B9-5ECB63D68957}" sibTransId="{98A89BC7-49ED-43B9-92F3-2A7555CB37B7}"/>
    <dgm:cxn modelId="{33F3CD67-FF88-4E32-82F0-432431FC0377}" type="presOf" srcId="{B882FBE6-252B-4E10-9A16-230E70C89E3C}" destId="{98BE3383-01B8-4184-B44C-18EF5240E170}" srcOrd="0" destOrd="0" presId="urn:microsoft.com/office/officeart/2005/8/layout/vList2"/>
    <dgm:cxn modelId="{B64A9492-6CEB-498F-825A-64EEE7C8D700}" srcId="{27BB41F8-1C9C-4EB0-96A2-61FB8F43FB9E}" destId="{966A5EB2-E477-4B38-B21D-6DCF4042011E}" srcOrd="1" destOrd="0" parTransId="{801F8672-5183-4FB6-A365-99801ADBD564}" sibTransId="{87BAC04E-0C07-4BB1-B0FC-0C802EACD883}"/>
    <dgm:cxn modelId="{3CF5089C-4F8A-4A0E-B8F6-8E9318EC3D80}" type="presOf" srcId="{5F539C8E-3CAD-47F4-95C7-16C1EDBD1591}" destId="{0A937F46-7334-4800-804C-669DDFA8E71E}" srcOrd="0" destOrd="0" presId="urn:microsoft.com/office/officeart/2005/8/layout/vList2"/>
    <dgm:cxn modelId="{95615FB0-3BAF-4350-9BFD-30A2A1F72387}" type="presOf" srcId="{27BB41F8-1C9C-4EB0-96A2-61FB8F43FB9E}" destId="{628AA833-BEE2-4802-9009-E034F6759F98}" srcOrd="0" destOrd="0" presId="urn:microsoft.com/office/officeart/2005/8/layout/vList2"/>
    <dgm:cxn modelId="{6B6CA6C8-1BB5-4BE0-A2CC-6E7716ECC399}" type="presOf" srcId="{835659B2-67FC-4C8C-9434-6F99AED8A0C1}" destId="{9A186FB4-7D3E-4BF3-864C-6F82E7A239AC}" srcOrd="0" destOrd="0" presId="urn:microsoft.com/office/officeart/2005/8/layout/vList2"/>
    <dgm:cxn modelId="{61ABDD25-B3D5-4610-A3CD-19D44DB2FB49}" type="presParOf" srcId="{628AA833-BEE2-4802-9009-E034F6759F98}" destId="{9A186FB4-7D3E-4BF3-864C-6F82E7A239AC}" srcOrd="0" destOrd="0" presId="urn:microsoft.com/office/officeart/2005/8/layout/vList2"/>
    <dgm:cxn modelId="{07E96B92-45CF-4FC5-9123-969E306317F8}" type="presParOf" srcId="{628AA833-BEE2-4802-9009-E034F6759F98}" destId="{173E149F-510A-4D38-B1D8-4A22DED7F7B1}" srcOrd="1" destOrd="0" presId="urn:microsoft.com/office/officeart/2005/8/layout/vList2"/>
    <dgm:cxn modelId="{E7CA091B-E448-4D4B-AEAF-8CC2E523F9C2}" type="presParOf" srcId="{628AA833-BEE2-4802-9009-E034F6759F98}" destId="{8E8D0812-0DBF-42DA-9410-1E8F8D8FDFEF}" srcOrd="2" destOrd="0" presId="urn:microsoft.com/office/officeart/2005/8/layout/vList2"/>
    <dgm:cxn modelId="{FC0FDF5A-D003-4277-B28F-FB4096CE0505}" type="presParOf" srcId="{628AA833-BEE2-4802-9009-E034F6759F98}" destId="{8E7F64A6-0611-4A95-9E51-2879B0D962F6}" srcOrd="3" destOrd="0" presId="urn:microsoft.com/office/officeart/2005/8/layout/vList2"/>
    <dgm:cxn modelId="{E35C1436-836A-45B9-80B1-8639BBE0EAAB}" type="presParOf" srcId="{628AA833-BEE2-4802-9009-E034F6759F98}" destId="{0A937F46-7334-4800-804C-669DDFA8E71E}" srcOrd="4" destOrd="0" presId="urn:microsoft.com/office/officeart/2005/8/layout/vList2"/>
    <dgm:cxn modelId="{488DEA5D-F936-47C7-8C49-563DFDECAE4F}" type="presParOf" srcId="{628AA833-BEE2-4802-9009-E034F6759F98}" destId="{007B6335-82CE-4114-9447-45ADDAAAB2D3}" srcOrd="5" destOrd="0" presId="urn:microsoft.com/office/officeart/2005/8/layout/vList2"/>
    <dgm:cxn modelId="{94DEC1CB-64A9-48BC-BBD7-DB92E05E3271}" type="presParOf" srcId="{628AA833-BEE2-4802-9009-E034F6759F98}" destId="{98BE3383-01B8-4184-B44C-18EF5240E17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F4D309-2E2F-4330-9E8D-8BDCD2406B41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82788815-BA15-48F7-8FCF-1E074B1E9216}">
      <dgm:prSet/>
      <dgm:spPr/>
      <dgm:t>
        <a:bodyPr/>
        <a:lstStyle/>
        <a:p>
          <a:r>
            <a:rPr lang="en-US"/>
            <a:t>NCERT Report on Academic Stress, 2021.</a:t>
          </a:r>
          <a:endParaRPr lang="en-IN"/>
        </a:p>
      </dgm:t>
    </dgm:pt>
    <dgm:pt modelId="{A82031FD-54B3-40C6-B28C-596AA49A4A2B}" type="parTrans" cxnId="{0CF33536-C9D8-4BEC-8E17-9545A79F8DAA}">
      <dgm:prSet/>
      <dgm:spPr/>
      <dgm:t>
        <a:bodyPr/>
        <a:lstStyle/>
        <a:p>
          <a:endParaRPr lang="en-IN"/>
        </a:p>
      </dgm:t>
    </dgm:pt>
    <dgm:pt modelId="{72EDF7BE-9427-4F45-AE0C-DCC62CAF1143}" type="sibTrans" cxnId="{0CF33536-C9D8-4BEC-8E17-9545A79F8DAA}">
      <dgm:prSet/>
      <dgm:spPr/>
      <dgm:t>
        <a:bodyPr/>
        <a:lstStyle/>
        <a:p>
          <a:endParaRPr lang="en-IN"/>
        </a:p>
      </dgm:t>
    </dgm:pt>
    <dgm:pt modelId="{EED021BE-94D8-42E2-B127-FAD51C970A12}">
      <dgm:prSet/>
      <dgm:spPr/>
      <dgm:t>
        <a:bodyPr/>
        <a:lstStyle/>
        <a:p>
          <a:r>
            <a:rPr lang="en-US" dirty="0"/>
            <a:t>Stanford HAI (2024): "LLM Therapeutic Efficacy Matching Human Therapists</a:t>
          </a:r>
          <a:endParaRPr lang="en-IN" dirty="0"/>
        </a:p>
      </dgm:t>
    </dgm:pt>
    <dgm:pt modelId="{D4039DCA-01E8-4354-AD35-3ABCD9844C6F}" type="parTrans" cxnId="{3BF26EE1-AF8B-4D6E-9290-33610564A079}">
      <dgm:prSet/>
      <dgm:spPr/>
      <dgm:t>
        <a:bodyPr/>
        <a:lstStyle/>
        <a:p>
          <a:endParaRPr lang="en-IN"/>
        </a:p>
      </dgm:t>
    </dgm:pt>
    <dgm:pt modelId="{EF9BC821-C210-442B-AA78-62A556BB3B2E}" type="sibTrans" cxnId="{3BF26EE1-AF8B-4D6E-9290-33610564A079}">
      <dgm:prSet/>
      <dgm:spPr/>
      <dgm:t>
        <a:bodyPr/>
        <a:lstStyle/>
        <a:p>
          <a:endParaRPr lang="en-IN"/>
        </a:p>
      </dgm:t>
    </dgm:pt>
    <dgm:pt modelId="{6AAD23E7-8998-49BB-8159-9015E7D9350B}">
      <dgm:prSet/>
      <dgm:spPr/>
      <dgm:t>
        <a:bodyPr/>
        <a:lstStyle/>
        <a:p>
          <a:r>
            <a:rPr lang="en-US" dirty="0"/>
            <a:t>3. </a:t>
          </a:r>
          <a:r>
            <a:rPr lang="en-US" dirty="0" err="1"/>
            <a:t>Vellakkal</a:t>
          </a:r>
          <a:r>
            <a:rPr lang="en-US" dirty="0"/>
            <a:t>, S. et al., 'Mental Health of Indian Youth', The Lancet, 2022.’</a:t>
          </a:r>
          <a:endParaRPr lang="en-IN" dirty="0"/>
        </a:p>
      </dgm:t>
    </dgm:pt>
    <dgm:pt modelId="{629D277E-E256-4EFD-9E66-B24C8DEDB5D5}" type="parTrans" cxnId="{868AE17E-817B-4F40-9E2A-D891955C05EA}">
      <dgm:prSet/>
      <dgm:spPr/>
      <dgm:t>
        <a:bodyPr/>
        <a:lstStyle/>
        <a:p>
          <a:endParaRPr lang="en-IN"/>
        </a:p>
      </dgm:t>
    </dgm:pt>
    <dgm:pt modelId="{9377A3F5-F395-4808-94F2-DA3F3678FB99}" type="sibTrans" cxnId="{868AE17E-817B-4F40-9E2A-D891955C05EA}">
      <dgm:prSet/>
      <dgm:spPr/>
      <dgm:t>
        <a:bodyPr/>
        <a:lstStyle/>
        <a:p>
          <a:endParaRPr lang="en-IN"/>
        </a:p>
      </dgm:t>
    </dgm:pt>
    <dgm:pt modelId="{A9A7E816-584B-4474-90D7-F6EC7462D87F}">
      <dgm:prSet/>
      <dgm:spPr/>
      <dgm:t>
        <a:bodyPr/>
        <a:lstStyle/>
        <a:p>
          <a:r>
            <a:rPr lang="en-US"/>
            <a:t>4. American Psychological Association, 'Cognitive Reframing Meta‑Analysis', 2022.</a:t>
          </a:r>
          <a:endParaRPr lang="en-IN"/>
        </a:p>
      </dgm:t>
    </dgm:pt>
    <dgm:pt modelId="{32A6F143-16E0-43C0-87FB-1AB6D7A13A18}" type="parTrans" cxnId="{4868FEB6-B92F-45B1-9BDD-D4E33D7953EF}">
      <dgm:prSet/>
      <dgm:spPr/>
      <dgm:t>
        <a:bodyPr/>
        <a:lstStyle/>
        <a:p>
          <a:endParaRPr lang="en-IN"/>
        </a:p>
      </dgm:t>
    </dgm:pt>
    <dgm:pt modelId="{8B4E26EA-5ADC-4F90-818E-206FEEE4C6FE}" type="sibTrans" cxnId="{4868FEB6-B92F-45B1-9BDD-D4E33D7953EF}">
      <dgm:prSet/>
      <dgm:spPr/>
      <dgm:t>
        <a:bodyPr/>
        <a:lstStyle/>
        <a:p>
          <a:endParaRPr lang="en-IN"/>
        </a:p>
      </dgm:t>
    </dgm:pt>
    <dgm:pt modelId="{C6433BE4-2AE2-4991-8337-C3BC1AE608AD}">
      <dgm:prSet/>
      <dgm:spPr/>
      <dgm:t>
        <a:bodyPr/>
        <a:lstStyle/>
        <a:p>
          <a:r>
            <a:rPr lang="en-US"/>
            <a:t>5. Bhagavad Gita 2.48 – 'Samatvam Yoga Uchyate’.</a:t>
          </a:r>
          <a:endParaRPr lang="en-IN"/>
        </a:p>
      </dgm:t>
    </dgm:pt>
    <dgm:pt modelId="{0AE246EE-FAA5-4188-BD25-D87BB37B4F70}" type="parTrans" cxnId="{EFA3B17B-7C9F-4AED-8F0A-ECAEECF49641}">
      <dgm:prSet/>
      <dgm:spPr/>
      <dgm:t>
        <a:bodyPr/>
        <a:lstStyle/>
        <a:p>
          <a:endParaRPr lang="en-IN"/>
        </a:p>
      </dgm:t>
    </dgm:pt>
    <dgm:pt modelId="{B1B685AD-7B47-4FAC-B08D-A534053BF076}" type="sibTrans" cxnId="{EFA3B17B-7C9F-4AED-8F0A-ECAEECF49641}">
      <dgm:prSet/>
      <dgm:spPr/>
      <dgm:t>
        <a:bodyPr/>
        <a:lstStyle/>
        <a:p>
          <a:endParaRPr lang="en-IN"/>
        </a:p>
      </dgm:t>
    </dgm:pt>
    <dgm:pt modelId="{FB90C304-F969-422D-8993-3F501B68A982}">
      <dgm:prSet/>
      <dgm:spPr/>
      <dgm:t>
        <a:bodyPr/>
        <a:lstStyle/>
        <a:p>
          <a:r>
            <a:rPr lang="en-US" dirty="0"/>
            <a:t>6. Radford, A. et al., 'Language Models as Few‑Shot Learners', 2024.</a:t>
          </a:r>
          <a:endParaRPr lang="en-IN" dirty="0"/>
        </a:p>
      </dgm:t>
    </dgm:pt>
    <dgm:pt modelId="{B3C0EDE3-596F-4967-9EDF-D3485FCF1089}" type="parTrans" cxnId="{BDE99E60-10E4-42EB-BBD0-C6A13C0828F2}">
      <dgm:prSet/>
      <dgm:spPr/>
      <dgm:t>
        <a:bodyPr/>
        <a:lstStyle/>
        <a:p>
          <a:endParaRPr lang="en-IN"/>
        </a:p>
      </dgm:t>
    </dgm:pt>
    <dgm:pt modelId="{A99CA6ED-DA09-4790-9FA2-4E382E3A6FF0}" type="sibTrans" cxnId="{BDE99E60-10E4-42EB-BBD0-C6A13C0828F2}">
      <dgm:prSet/>
      <dgm:spPr/>
      <dgm:t>
        <a:bodyPr/>
        <a:lstStyle/>
        <a:p>
          <a:endParaRPr lang="en-IN"/>
        </a:p>
      </dgm:t>
    </dgm:pt>
    <dgm:pt modelId="{156E7917-D88F-4392-B217-638E44778ACE}" type="pres">
      <dgm:prSet presAssocID="{08F4D309-2E2F-4330-9E8D-8BDCD2406B41}" presName="Name0" presStyleCnt="0">
        <dgm:presLayoutVars>
          <dgm:chMax val="7"/>
          <dgm:chPref val="7"/>
          <dgm:dir/>
        </dgm:presLayoutVars>
      </dgm:prSet>
      <dgm:spPr/>
    </dgm:pt>
    <dgm:pt modelId="{6CAF2150-B3AF-43EC-94FA-BFAE9508167F}" type="pres">
      <dgm:prSet presAssocID="{08F4D309-2E2F-4330-9E8D-8BDCD2406B41}" presName="Name1" presStyleCnt="0"/>
      <dgm:spPr/>
    </dgm:pt>
    <dgm:pt modelId="{E9CC8F04-3A3A-4E6D-A50E-D640C82B1B6A}" type="pres">
      <dgm:prSet presAssocID="{08F4D309-2E2F-4330-9E8D-8BDCD2406B41}" presName="cycle" presStyleCnt="0"/>
      <dgm:spPr/>
    </dgm:pt>
    <dgm:pt modelId="{1BC901E4-2FF5-4737-9C28-E137FCCCE2AF}" type="pres">
      <dgm:prSet presAssocID="{08F4D309-2E2F-4330-9E8D-8BDCD2406B41}" presName="srcNode" presStyleLbl="node1" presStyleIdx="0" presStyleCnt="6"/>
      <dgm:spPr/>
    </dgm:pt>
    <dgm:pt modelId="{5FEA2F5F-4C92-4012-B721-E9EFA88B589C}" type="pres">
      <dgm:prSet presAssocID="{08F4D309-2E2F-4330-9E8D-8BDCD2406B41}" presName="conn" presStyleLbl="parChTrans1D2" presStyleIdx="0" presStyleCnt="1"/>
      <dgm:spPr/>
    </dgm:pt>
    <dgm:pt modelId="{960CDDAB-0F7C-4EB3-B92A-EC9E7AC00972}" type="pres">
      <dgm:prSet presAssocID="{08F4D309-2E2F-4330-9E8D-8BDCD2406B41}" presName="extraNode" presStyleLbl="node1" presStyleIdx="0" presStyleCnt="6"/>
      <dgm:spPr/>
    </dgm:pt>
    <dgm:pt modelId="{EA800079-4E92-45C2-8D17-5C0AA851936A}" type="pres">
      <dgm:prSet presAssocID="{08F4D309-2E2F-4330-9E8D-8BDCD2406B41}" presName="dstNode" presStyleLbl="node1" presStyleIdx="0" presStyleCnt="6"/>
      <dgm:spPr/>
    </dgm:pt>
    <dgm:pt modelId="{6D0E036C-2FCB-4DDC-8B21-9C06EB3CD1BF}" type="pres">
      <dgm:prSet presAssocID="{82788815-BA15-48F7-8FCF-1E074B1E9216}" presName="text_1" presStyleLbl="node1" presStyleIdx="0" presStyleCnt="6">
        <dgm:presLayoutVars>
          <dgm:bulletEnabled val="1"/>
        </dgm:presLayoutVars>
      </dgm:prSet>
      <dgm:spPr/>
    </dgm:pt>
    <dgm:pt modelId="{8F8D97AE-C3E3-4B95-894E-96966F1EAEDD}" type="pres">
      <dgm:prSet presAssocID="{82788815-BA15-48F7-8FCF-1E074B1E9216}" presName="accent_1" presStyleCnt="0"/>
      <dgm:spPr/>
    </dgm:pt>
    <dgm:pt modelId="{86072C48-F698-4F00-875B-5B05F4D28AAF}" type="pres">
      <dgm:prSet presAssocID="{82788815-BA15-48F7-8FCF-1E074B1E9216}" presName="accentRepeatNode" presStyleLbl="solidFgAcc1" presStyleIdx="0" presStyleCnt="6"/>
      <dgm:spPr/>
    </dgm:pt>
    <dgm:pt modelId="{712E6BBF-B1E3-4D9B-AAD8-1E09BB76AAC4}" type="pres">
      <dgm:prSet presAssocID="{EED021BE-94D8-42E2-B127-FAD51C970A12}" presName="text_2" presStyleLbl="node1" presStyleIdx="1" presStyleCnt="6">
        <dgm:presLayoutVars>
          <dgm:bulletEnabled val="1"/>
        </dgm:presLayoutVars>
      </dgm:prSet>
      <dgm:spPr/>
    </dgm:pt>
    <dgm:pt modelId="{AE4002C2-228D-4A94-AC7D-0BF83DBE5A47}" type="pres">
      <dgm:prSet presAssocID="{EED021BE-94D8-42E2-B127-FAD51C970A12}" presName="accent_2" presStyleCnt="0"/>
      <dgm:spPr/>
    </dgm:pt>
    <dgm:pt modelId="{A79241E3-5525-4599-AAA7-F86A2B23483D}" type="pres">
      <dgm:prSet presAssocID="{EED021BE-94D8-42E2-B127-FAD51C970A12}" presName="accentRepeatNode" presStyleLbl="solidFgAcc1" presStyleIdx="1" presStyleCnt="6"/>
      <dgm:spPr/>
    </dgm:pt>
    <dgm:pt modelId="{4738457D-38D0-46EC-81A4-3A9E5A7771A7}" type="pres">
      <dgm:prSet presAssocID="{6AAD23E7-8998-49BB-8159-9015E7D9350B}" presName="text_3" presStyleLbl="node1" presStyleIdx="2" presStyleCnt="6">
        <dgm:presLayoutVars>
          <dgm:bulletEnabled val="1"/>
        </dgm:presLayoutVars>
      </dgm:prSet>
      <dgm:spPr/>
    </dgm:pt>
    <dgm:pt modelId="{97C804C9-09D9-4035-AE70-CC26126F1214}" type="pres">
      <dgm:prSet presAssocID="{6AAD23E7-8998-49BB-8159-9015E7D9350B}" presName="accent_3" presStyleCnt="0"/>
      <dgm:spPr/>
    </dgm:pt>
    <dgm:pt modelId="{E77BA2FA-7204-45A0-887C-FFB7114294BF}" type="pres">
      <dgm:prSet presAssocID="{6AAD23E7-8998-49BB-8159-9015E7D9350B}" presName="accentRepeatNode" presStyleLbl="solidFgAcc1" presStyleIdx="2" presStyleCnt="6"/>
      <dgm:spPr/>
    </dgm:pt>
    <dgm:pt modelId="{748006F0-238A-474D-A2B4-4B5E9A9F25E9}" type="pres">
      <dgm:prSet presAssocID="{A9A7E816-584B-4474-90D7-F6EC7462D87F}" presName="text_4" presStyleLbl="node1" presStyleIdx="3" presStyleCnt="6">
        <dgm:presLayoutVars>
          <dgm:bulletEnabled val="1"/>
        </dgm:presLayoutVars>
      </dgm:prSet>
      <dgm:spPr/>
    </dgm:pt>
    <dgm:pt modelId="{5045FBD4-C2DD-4A1C-99A3-618E6471035B}" type="pres">
      <dgm:prSet presAssocID="{A9A7E816-584B-4474-90D7-F6EC7462D87F}" presName="accent_4" presStyleCnt="0"/>
      <dgm:spPr/>
    </dgm:pt>
    <dgm:pt modelId="{8637FED8-8BA0-4CD0-83CD-4AA95FD4FC41}" type="pres">
      <dgm:prSet presAssocID="{A9A7E816-584B-4474-90D7-F6EC7462D87F}" presName="accentRepeatNode" presStyleLbl="solidFgAcc1" presStyleIdx="3" presStyleCnt="6"/>
      <dgm:spPr/>
    </dgm:pt>
    <dgm:pt modelId="{23B6188C-31BE-422E-8890-93180D83B558}" type="pres">
      <dgm:prSet presAssocID="{C6433BE4-2AE2-4991-8337-C3BC1AE608AD}" presName="text_5" presStyleLbl="node1" presStyleIdx="4" presStyleCnt="6">
        <dgm:presLayoutVars>
          <dgm:bulletEnabled val="1"/>
        </dgm:presLayoutVars>
      </dgm:prSet>
      <dgm:spPr/>
    </dgm:pt>
    <dgm:pt modelId="{BE88F46D-3EDE-4101-8591-CF85DE212E20}" type="pres">
      <dgm:prSet presAssocID="{C6433BE4-2AE2-4991-8337-C3BC1AE608AD}" presName="accent_5" presStyleCnt="0"/>
      <dgm:spPr/>
    </dgm:pt>
    <dgm:pt modelId="{4300A1E8-EBB1-4852-822A-6EB450DB4131}" type="pres">
      <dgm:prSet presAssocID="{C6433BE4-2AE2-4991-8337-C3BC1AE608AD}" presName="accentRepeatNode" presStyleLbl="solidFgAcc1" presStyleIdx="4" presStyleCnt="6"/>
      <dgm:spPr/>
    </dgm:pt>
    <dgm:pt modelId="{C68452D3-C493-4908-85F2-443907F1436F}" type="pres">
      <dgm:prSet presAssocID="{FB90C304-F969-422D-8993-3F501B68A982}" presName="text_6" presStyleLbl="node1" presStyleIdx="5" presStyleCnt="6">
        <dgm:presLayoutVars>
          <dgm:bulletEnabled val="1"/>
        </dgm:presLayoutVars>
      </dgm:prSet>
      <dgm:spPr/>
    </dgm:pt>
    <dgm:pt modelId="{0F0A5961-E142-4F7F-B4E4-769393AA2577}" type="pres">
      <dgm:prSet presAssocID="{FB90C304-F969-422D-8993-3F501B68A982}" presName="accent_6" presStyleCnt="0"/>
      <dgm:spPr/>
    </dgm:pt>
    <dgm:pt modelId="{E02544B8-863F-490B-BF54-AAC3A49FA8F8}" type="pres">
      <dgm:prSet presAssocID="{FB90C304-F969-422D-8993-3F501B68A982}" presName="accentRepeatNode" presStyleLbl="solidFgAcc1" presStyleIdx="5" presStyleCnt="6"/>
      <dgm:spPr/>
    </dgm:pt>
  </dgm:ptLst>
  <dgm:cxnLst>
    <dgm:cxn modelId="{F4420700-63BE-454E-B0BC-1E27EE6086F8}" type="presOf" srcId="{82788815-BA15-48F7-8FCF-1E074B1E9216}" destId="{6D0E036C-2FCB-4DDC-8B21-9C06EB3CD1BF}" srcOrd="0" destOrd="0" presId="urn:microsoft.com/office/officeart/2008/layout/VerticalCurvedList"/>
    <dgm:cxn modelId="{AF9D581D-97EA-4238-93C7-72C8A6D50454}" type="presOf" srcId="{08F4D309-2E2F-4330-9E8D-8BDCD2406B41}" destId="{156E7917-D88F-4392-B217-638E44778ACE}" srcOrd="0" destOrd="0" presId="urn:microsoft.com/office/officeart/2008/layout/VerticalCurvedList"/>
    <dgm:cxn modelId="{0CF33536-C9D8-4BEC-8E17-9545A79F8DAA}" srcId="{08F4D309-2E2F-4330-9E8D-8BDCD2406B41}" destId="{82788815-BA15-48F7-8FCF-1E074B1E9216}" srcOrd="0" destOrd="0" parTransId="{A82031FD-54B3-40C6-B28C-596AA49A4A2B}" sibTransId="{72EDF7BE-9427-4F45-AE0C-DCC62CAF1143}"/>
    <dgm:cxn modelId="{BDE99E60-10E4-42EB-BBD0-C6A13C0828F2}" srcId="{08F4D309-2E2F-4330-9E8D-8BDCD2406B41}" destId="{FB90C304-F969-422D-8993-3F501B68A982}" srcOrd="5" destOrd="0" parTransId="{B3C0EDE3-596F-4967-9EDF-D3485FCF1089}" sibTransId="{A99CA6ED-DA09-4790-9FA2-4E382E3A6FF0}"/>
    <dgm:cxn modelId="{8CF70442-30DA-4D2A-B0FA-BD1E1F606D9E}" type="presOf" srcId="{6AAD23E7-8998-49BB-8159-9015E7D9350B}" destId="{4738457D-38D0-46EC-81A4-3A9E5A7771A7}" srcOrd="0" destOrd="0" presId="urn:microsoft.com/office/officeart/2008/layout/VerticalCurvedList"/>
    <dgm:cxn modelId="{B5A19E47-894D-425D-9842-857514569451}" type="presOf" srcId="{C6433BE4-2AE2-4991-8337-C3BC1AE608AD}" destId="{23B6188C-31BE-422E-8890-93180D83B558}" srcOrd="0" destOrd="0" presId="urn:microsoft.com/office/officeart/2008/layout/VerticalCurvedList"/>
    <dgm:cxn modelId="{2913C46B-43A4-4C9E-8B5F-9E8C02F00A2B}" type="presOf" srcId="{A9A7E816-584B-4474-90D7-F6EC7462D87F}" destId="{748006F0-238A-474D-A2B4-4B5E9A9F25E9}" srcOrd="0" destOrd="0" presId="urn:microsoft.com/office/officeart/2008/layout/VerticalCurvedList"/>
    <dgm:cxn modelId="{0649EB6C-8994-432B-8CD0-039A58834302}" type="presOf" srcId="{FB90C304-F969-422D-8993-3F501B68A982}" destId="{C68452D3-C493-4908-85F2-443907F1436F}" srcOrd="0" destOrd="0" presId="urn:microsoft.com/office/officeart/2008/layout/VerticalCurvedList"/>
    <dgm:cxn modelId="{EFA3B17B-7C9F-4AED-8F0A-ECAEECF49641}" srcId="{08F4D309-2E2F-4330-9E8D-8BDCD2406B41}" destId="{C6433BE4-2AE2-4991-8337-C3BC1AE608AD}" srcOrd="4" destOrd="0" parTransId="{0AE246EE-FAA5-4188-BD25-D87BB37B4F70}" sibTransId="{B1B685AD-7B47-4FAC-B08D-A534053BF076}"/>
    <dgm:cxn modelId="{868AE17E-817B-4F40-9E2A-D891955C05EA}" srcId="{08F4D309-2E2F-4330-9E8D-8BDCD2406B41}" destId="{6AAD23E7-8998-49BB-8159-9015E7D9350B}" srcOrd="2" destOrd="0" parTransId="{629D277E-E256-4EFD-9E66-B24C8DEDB5D5}" sibTransId="{9377A3F5-F395-4808-94F2-DA3F3678FB99}"/>
    <dgm:cxn modelId="{788E4F93-AB54-43C7-8BEE-953DD0C0047A}" type="presOf" srcId="{EED021BE-94D8-42E2-B127-FAD51C970A12}" destId="{712E6BBF-B1E3-4D9B-AAD8-1E09BB76AAC4}" srcOrd="0" destOrd="0" presId="urn:microsoft.com/office/officeart/2008/layout/VerticalCurvedList"/>
    <dgm:cxn modelId="{689CAAAB-DD5F-42C3-92F0-B9AC9B684E26}" type="presOf" srcId="{72EDF7BE-9427-4F45-AE0C-DCC62CAF1143}" destId="{5FEA2F5F-4C92-4012-B721-E9EFA88B589C}" srcOrd="0" destOrd="0" presId="urn:microsoft.com/office/officeart/2008/layout/VerticalCurvedList"/>
    <dgm:cxn modelId="{4868FEB6-B92F-45B1-9BDD-D4E33D7953EF}" srcId="{08F4D309-2E2F-4330-9E8D-8BDCD2406B41}" destId="{A9A7E816-584B-4474-90D7-F6EC7462D87F}" srcOrd="3" destOrd="0" parTransId="{32A6F143-16E0-43C0-87FB-1AB6D7A13A18}" sibTransId="{8B4E26EA-5ADC-4F90-818E-206FEEE4C6FE}"/>
    <dgm:cxn modelId="{3BF26EE1-AF8B-4D6E-9290-33610564A079}" srcId="{08F4D309-2E2F-4330-9E8D-8BDCD2406B41}" destId="{EED021BE-94D8-42E2-B127-FAD51C970A12}" srcOrd="1" destOrd="0" parTransId="{D4039DCA-01E8-4354-AD35-3ABCD9844C6F}" sibTransId="{EF9BC821-C210-442B-AA78-62A556BB3B2E}"/>
    <dgm:cxn modelId="{3E47D9B6-EF92-4198-A256-922B03A1C5E8}" type="presParOf" srcId="{156E7917-D88F-4392-B217-638E44778ACE}" destId="{6CAF2150-B3AF-43EC-94FA-BFAE9508167F}" srcOrd="0" destOrd="0" presId="urn:microsoft.com/office/officeart/2008/layout/VerticalCurvedList"/>
    <dgm:cxn modelId="{B0566C5F-B912-4C8E-BC76-B19863413020}" type="presParOf" srcId="{6CAF2150-B3AF-43EC-94FA-BFAE9508167F}" destId="{E9CC8F04-3A3A-4E6D-A50E-D640C82B1B6A}" srcOrd="0" destOrd="0" presId="urn:microsoft.com/office/officeart/2008/layout/VerticalCurvedList"/>
    <dgm:cxn modelId="{80398A91-1582-4FE0-8470-84DB9373DDE2}" type="presParOf" srcId="{E9CC8F04-3A3A-4E6D-A50E-D640C82B1B6A}" destId="{1BC901E4-2FF5-4737-9C28-E137FCCCE2AF}" srcOrd="0" destOrd="0" presId="urn:microsoft.com/office/officeart/2008/layout/VerticalCurvedList"/>
    <dgm:cxn modelId="{9A3C0E70-2BE8-4B57-976A-8F957A72AFDB}" type="presParOf" srcId="{E9CC8F04-3A3A-4E6D-A50E-D640C82B1B6A}" destId="{5FEA2F5F-4C92-4012-B721-E9EFA88B589C}" srcOrd="1" destOrd="0" presId="urn:microsoft.com/office/officeart/2008/layout/VerticalCurvedList"/>
    <dgm:cxn modelId="{3204287A-E73A-4FBE-BDE0-05E2F6A059E9}" type="presParOf" srcId="{E9CC8F04-3A3A-4E6D-A50E-D640C82B1B6A}" destId="{960CDDAB-0F7C-4EB3-B92A-EC9E7AC00972}" srcOrd="2" destOrd="0" presId="urn:microsoft.com/office/officeart/2008/layout/VerticalCurvedList"/>
    <dgm:cxn modelId="{95923009-5945-4D87-BB2C-3636B8BAB1D1}" type="presParOf" srcId="{E9CC8F04-3A3A-4E6D-A50E-D640C82B1B6A}" destId="{EA800079-4E92-45C2-8D17-5C0AA851936A}" srcOrd="3" destOrd="0" presId="urn:microsoft.com/office/officeart/2008/layout/VerticalCurvedList"/>
    <dgm:cxn modelId="{D7248CC9-D983-4FCB-A836-5C02C4139802}" type="presParOf" srcId="{6CAF2150-B3AF-43EC-94FA-BFAE9508167F}" destId="{6D0E036C-2FCB-4DDC-8B21-9C06EB3CD1BF}" srcOrd="1" destOrd="0" presId="urn:microsoft.com/office/officeart/2008/layout/VerticalCurvedList"/>
    <dgm:cxn modelId="{96B67F2E-B218-4F5D-A9A5-F82C87A8AF96}" type="presParOf" srcId="{6CAF2150-B3AF-43EC-94FA-BFAE9508167F}" destId="{8F8D97AE-C3E3-4B95-894E-96966F1EAEDD}" srcOrd="2" destOrd="0" presId="urn:microsoft.com/office/officeart/2008/layout/VerticalCurvedList"/>
    <dgm:cxn modelId="{0C373AF1-8B2E-4C44-8F55-1207E61300E6}" type="presParOf" srcId="{8F8D97AE-C3E3-4B95-894E-96966F1EAEDD}" destId="{86072C48-F698-4F00-875B-5B05F4D28AAF}" srcOrd="0" destOrd="0" presId="urn:microsoft.com/office/officeart/2008/layout/VerticalCurvedList"/>
    <dgm:cxn modelId="{B5D147B2-5255-4A2D-9B17-EB9E0EC0BE9E}" type="presParOf" srcId="{6CAF2150-B3AF-43EC-94FA-BFAE9508167F}" destId="{712E6BBF-B1E3-4D9B-AAD8-1E09BB76AAC4}" srcOrd="3" destOrd="0" presId="urn:microsoft.com/office/officeart/2008/layout/VerticalCurvedList"/>
    <dgm:cxn modelId="{1D711E39-8663-4910-851E-D95AA06445BB}" type="presParOf" srcId="{6CAF2150-B3AF-43EC-94FA-BFAE9508167F}" destId="{AE4002C2-228D-4A94-AC7D-0BF83DBE5A47}" srcOrd="4" destOrd="0" presId="urn:microsoft.com/office/officeart/2008/layout/VerticalCurvedList"/>
    <dgm:cxn modelId="{812BC3F4-368E-4BBF-A71E-B238664AE7F9}" type="presParOf" srcId="{AE4002C2-228D-4A94-AC7D-0BF83DBE5A47}" destId="{A79241E3-5525-4599-AAA7-F86A2B23483D}" srcOrd="0" destOrd="0" presId="urn:microsoft.com/office/officeart/2008/layout/VerticalCurvedList"/>
    <dgm:cxn modelId="{468E2694-5297-4306-A291-8D71E4074F2C}" type="presParOf" srcId="{6CAF2150-B3AF-43EC-94FA-BFAE9508167F}" destId="{4738457D-38D0-46EC-81A4-3A9E5A7771A7}" srcOrd="5" destOrd="0" presId="urn:microsoft.com/office/officeart/2008/layout/VerticalCurvedList"/>
    <dgm:cxn modelId="{EB3928C9-7D0C-4D5B-9D09-6060200E8E73}" type="presParOf" srcId="{6CAF2150-B3AF-43EC-94FA-BFAE9508167F}" destId="{97C804C9-09D9-4035-AE70-CC26126F1214}" srcOrd="6" destOrd="0" presId="urn:microsoft.com/office/officeart/2008/layout/VerticalCurvedList"/>
    <dgm:cxn modelId="{972CEA81-25AF-4802-B8C3-91C6C1218C40}" type="presParOf" srcId="{97C804C9-09D9-4035-AE70-CC26126F1214}" destId="{E77BA2FA-7204-45A0-887C-FFB7114294BF}" srcOrd="0" destOrd="0" presId="urn:microsoft.com/office/officeart/2008/layout/VerticalCurvedList"/>
    <dgm:cxn modelId="{F6DCC793-7B88-49F3-BD5E-41753A6F10BB}" type="presParOf" srcId="{6CAF2150-B3AF-43EC-94FA-BFAE9508167F}" destId="{748006F0-238A-474D-A2B4-4B5E9A9F25E9}" srcOrd="7" destOrd="0" presId="urn:microsoft.com/office/officeart/2008/layout/VerticalCurvedList"/>
    <dgm:cxn modelId="{A1377721-6E49-43B9-9DDB-31E11D4C62CF}" type="presParOf" srcId="{6CAF2150-B3AF-43EC-94FA-BFAE9508167F}" destId="{5045FBD4-C2DD-4A1C-99A3-618E6471035B}" srcOrd="8" destOrd="0" presId="urn:microsoft.com/office/officeart/2008/layout/VerticalCurvedList"/>
    <dgm:cxn modelId="{76AC7FE8-38DF-4E57-A5A1-1531BA75DFA4}" type="presParOf" srcId="{5045FBD4-C2DD-4A1C-99A3-618E6471035B}" destId="{8637FED8-8BA0-4CD0-83CD-4AA95FD4FC41}" srcOrd="0" destOrd="0" presId="urn:microsoft.com/office/officeart/2008/layout/VerticalCurvedList"/>
    <dgm:cxn modelId="{B73549B6-C46A-4A65-81F6-A3D890D04E61}" type="presParOf" srcId="{6CAF2150-B3AF-43EC-94FA-BFAE9508167F}" destId="{23B6188C-31BE-422E-8890-93180D83B558}" srcOrd="9" destOrd="0" presId="urn:microsoft.com/office/officeart/2008/layout/VerticalCurvedList"/>
    <dgm:cxn modelId="{DAB3DF15-3687-4605-BD59-BC7B40E1DC1C}" type="presParOf" srcId="{6CAF2150-B3AF-43EC-94FA-BFAE9508167F}" destId="{BE88F46D-3EDE-4101-8591-CF85DE212E20}" srcOrd="10" destOrd="0" presId="urn:microsoft.com/office/officeart/2008/layout/VerticalCurvedList"/>
    <dgm:cxn modelId="{06832831-F259-453D-9CEA-6134582CB1B2}" type="presParOf" srcId="{BE88F46D-3EDE-4101-8591-CF85DE212E20}" destId="{4300A1E8-EBB1-4852-822A-6EB450DB4131}" srcOrd="0" destOrd="0" presId="urn:microsoft.com/office/officeart/2008/layout/VerticalCurvedList"/>
    <dgm:cxn modelId="{0545BD44-A32F-4B4C-A1E8-9126539CDA0A}" type="presParOf" srcId="{6CAF2150-B3AF-43EC-94FA-BFAE9508167F}" destId="{C68452D3-C493-4908-85F2-443907F1436F}" srcOrd="11" destOrd="0" presId="urn:microsoft.com/office/officeart/2008/layout/VerticalCurvedList"/>
    <dgm:cxn modelId="{3C1E057B-1FA5-4CE8-950F-922116CEAD6A}" type="presParOf" srcId="{6CAF2150-B3AF-43EC-94FA-BFAE9508167F}" destId="{0F0A5961-E142-4F7F-B4E4-769393AA2577}" srcOrd="12" destOrd="0" presId="urn:microsoft.com/office/officeart/2008/layout/VerticalCurvedList"/>
    <dgm:cxn modelId="{3A199B67-0728-4817-AEA9-A9ADCA2DC4A2}" type="presParOf" srcId="{0F0A5961-E142-4F7F-B4E4-769393AA2577}" destId="{E02544B8-863F-490B-BF54-AAC3A49FA8F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86FB4-7D3E-4BF3-864C-6F82E7A239AC}">
      <dsp:nvSpPr>
        <dsp:cNvPr id="0" name=""/>
        <dsp:cNvSpPr/>
      </dsp:nvSpPr>
      <dsp:spPr>
        <a:xfrm>
          <a:off x="0" y="78669"/>
          <a:ext cx="10515600" cy="994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Escalating academic, social, and relationship stress among youth triggers impulsive reactions, anxiety, and depression.</a:t>
          </a:r>
          <a:endParaRPr lang="en-IN" sz="2500" kern="1200"/>
        </a:p>
      </dsp:txBody>
      <dsp:txXfrm>
        <a:off x="48547" y="127216"/>
        <a:ext cx="10418506" cy="897406"/>
      </dsp:txXfrm>
    </dsp:sp>
    <dsp:sp modelId="{8E8D0812-0DBF-42DA-9410-1E8F8D8FDFEF}">
      <dsp:nvSpPr>
        <dsp:cNvPr id="0" name=""/>
        <dsp:cNvSpPr/>
      </dsp:nvSpPr>
      <dsp:spPr>
        <a:xfrm>
          <a:off x="0" y="1145169"/>
          <a:ext cx="10515600" cy="994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Existing mental‑health apps rarely offer culturally grounded or multi‑perspective support.</a:t>
          </a:r>
          <a:endParaRPr lang="en-IN" sz="2500" kern="1200"/>
        </a:p>
      </dsp:txBody>
      <dsp:txXfrm>
        <a:off x="48547" y="1193716"/>
        <a:ext cx="10418506" cy="897406"/>
      </dsp:txXfrm>
    </dsp:sp>
    <dsp:sp modelId="{0A937F46-7334-4800-804C-669DDFA8E71E}">
      <dsp:nvSpPr>
        <dsp:cNvPr id="0" name=""/>
        <dsp:cNvSpPr/>
      </dsp:nvSpPr>
      <dsp:spPr>
        <a:xfrm>
          <a:off x="0" y="2211669"/>
          <a:ext cx="10515600" cy="994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Professional therapy is costly, stigmatized, or unavailable in real time.</a:t>
          </a:r>
          <a:endParaRPr lang="en-IN" sz="2500" kern="1200"/>
        </a:p>
      </dsp:txBody>
      <dsp:txXfrm>
        <a:off x="48547" y="2260216"/>
        <a:ext cx="10418506" cy="897406"/>
      </dsp:txXfrm>
    </dsp:sp>
    <dsp:sp modelId="{98BE3383-01B8-4184-B44C-18EF5240E170}">
      <dsp:nvSpPr>
        <dsp:cNvPr id="0" name=""/>
        <dsp:cNvSpPr/>
      </dsp:nvSpPr>
      <dsp:spPr>
        <a:xfrm>
          <a:off x="0" y="3278169"/>
          <a:ext cx="10515600" cy="9945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Need: an always‑available, AI‑driven reframing tool rooted in Indian wisdom that restores emotional balance.</a:t>
          </a:r>
          <a:endParaRPr lang="en-IN" sz="2500" kern="1200"/>
        </a:p>
      </dsp:txBody>
      <dsp:txXfrm>
        <a:off x="48547" y="3326716"/>
        <a:ext cx="10418506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A2F5F-4C92-4012-B721-E9EFA88B589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0E036C-2FCB-4DDC-8B21-9C06EB3CD1BF}">
      <dsp:nvSpPr>
        <dsp:cNvPr id="0" name=""/>
        <dsp:cNvSpPr/>
      </dsp:nvSpPr>
      <dsp:spPr>
        <a:xfrm>
          <a:off x="350606" y="229141"/>
          <a:ext cx="10105268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NCERT Report on Academic Stress, 2021.</a:t>
          </a:r>
          <a:endParaRPr lang="en-IN" sz="2100" kern="1200"/>
        </a:p>
      </dsp:txBody>
      <dsp:txXfrm>
        <a:off x="350606" y="229141"/>
        <a:ext cx="10105268" cy="458108"/>
      </dsp:txXfrm>
    </dsp:sp>
    <dsp:sp modelId="{86072C48-F698-4F00-875B-5B05F4D28AAF}">
      <dsp:nvSpPr>
        <dsp:cNvPr id="0" name=""/>
        <dsp:cNvSpPr/>
      </dsp:nvSpPr>
      <dsp:spPr>
        <a:xfrm>
          <a:off x="64288" y="171877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E6BBF-B1E3-4D9B-AAD8-1E09BB76AAC4}">
      <dsp:nvSpPr>
        <dsp:cNvPr id="0" name=""/>
        <dsp:cNvSpPr/>
      </dsp:nvSpPr>
      <dsp:spPr>
        <a:xfrm>
          <a:off x="727432" y="916217"/>
          <a:ext cx="9728442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Stanford HAI (2024): "LLM Therapeutic Efficacy Matching Human Therapists</a:t>
          </a:r>
          <a:endParaRPr lang="en-IN" sz="2100" kern="1200" dirty="0"/>
        </a:p>
      </dsp:txBody>
      <dsp:txXfrm>
        <a:off x="727432" y="916217"/>
        <a:ext cx="9728442" cy="458108"/>
      </dsp:txXfrm>
    </dsp:sp>
    <dsp:sp modelId="{A79241E3-5525-4599-AAA7-F86A2B23483D}">
      <dsp:nvSpPr>
        <dsp:cNvPr id="0" name=""/>
        <dsp:cNvSpPr/>
      </dsp:nvSpPr>
      <dsp:spPr>
        <a:xfrm>
          <a:off x="441114" y="858954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38457D-38D0-46EC-81A4-3A9E5A7771A7}">
      <dsp:nvSpPr>
        <dsp:cNvPr id="0" name=""/>
        <dsp:cNvSpPr/>
      </dsp:nvSpPr>
      <dsp:spPr>
        <a:xfrm>
          <a:off x="899745" y="1603293"/>
          <a:ext cx="9556129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3. </a:t>
          </a:r>
          <a:r>
            <a:rPr lang="en-US" sz="2100" kern="1200" dirty="0" err="1"/>
            <a:t>Vellakkal</a:t>
          </a:r>
          <a:r>
            <a:rPr lang="en-US" sz="2100" kern="1200" dirty="0"/>
            <a:t>, S. et al., 'Mental Health of Indian Youth', The Lancet, 2022.’</a:t>
          </a:r>
          <a:endParaRPr lang="en-IN" sz="2100" kern="1200" dirty="0"/>
        </a:p>
      </dsp:txBody>
      <dsp:txXfrm>
        <a:off x="899745" y="1603293"/>
        <a:ext cx="9556129" cy="458108"/>
      </dsp:txXfrm>
    </dsp:sp>
    <dsp:sp modelId="{E77BA2FA-7204-45A0-887C-FFB7114294BF}">
      <dsp:nvSpPr>
        <dsp:cNvPr id="0" name=""/>
        <dsp:cNvSpPr/>
      </dsp:nvSpPr>
      <dsp:spPr>
        <a:xfrm>
          <a:off x="613427" y="1546030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006F0-238A-474D-A2B4-4B5E9A9F25E9}">
      <dsp:nvSpPr>
        <dsp:cNvPr id="0" name=""/>
        <dsp:cNvSpPr/>
      </dsp:nvSpPr>
      <dsp:spPr>
        <a:xfrm>
          <a:off x="899745" y="2289935"/>
          <a:ext cx="9556129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American Psychological Association, 'Cognitive Reframing Meta‑Analysis', 2022.</a:t>
          </a:r>
          <a:endParaRPr lang="en-IN" sz="2100" kern="1200"/>
        </a:p>
      </dsp:txBody>
      <dsp:txXfrm>
        <a:off x="899745" y="2289935"/>
        <a:ext cx="9556129" cy="458108"/>
      </dsp:txXfrm>
    </dsp:sp>
    <dsp:sp modelId="{8637FED8-8BA0-4CD0-83CD-4AA95FD4FC41}">
      <dsp:nvSpPr>
        <dsp:cNvPr id="0" name=""/>
        <dsp:cNvSpPr/>
      </dsp:nvSpPr>
      <dsp:spPr>
        <a:xfrm>
          <a:off x="613427" y="2232671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B6188C-31BE-422E-8890-93180D83B558}">
      <dsp:nvSpPr>
        <dsp:cNvPr id="0" name=""/>
        <dsp:cNvSpPr/>
      </dsp:nvSpPr>
      <dsp:spPr>
        <a:xfrm>
          <a:off x="727432" y="2977011"/>
          <a:ext cx="9728442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5. Bhagavad Gita 2.48 – 'Samatvam Yoga Uchyate’.</a:t>
          </a:r>
          <a:endParaRPr lang="en-IN" sz="2100" kern="1200"/>
        </a:p>
      </dsp:txBody>
      <dsp:txXfrm>
        <a:off x="727432" y="2977011"/>
        <a:ext cx="9728442" cy="458108"/>
      </dsp:txXfrm>
    </dsp:sp>
    <dsp:sp modelId="{4300A1E8-EBB1-4852-822A-6EB450DB4131}">
      <dsp:nvSpPr>
        <dsp:cNvPr id="0" name=""/>
        <dsp:cNvSpPr/>
      </dsp:nvSpPr>
      <dsp:spPr>
        <a:xfrm>
          <a:off x="441114" y="2919747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452D3-C493-4908-85F2-443907F1436F}">
      <dsp:nvSpPr>
        <dsp:cNvPr id="0" name=""/>
        <dsp:cNvSpPr/>
      </dsp:nvSpPr>
      <dsp:spPr>
        <a:xfrm>
          <a:off x="350606" y="3664087"/>
          <a:ext cx="10105268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6. Radford, A. et al., 'Language Models as Few‑Shot Learners', 2024.</a:t>
          </a:r>
          <a:endParaRPr lang="en-IN" sz="2100" kern="1200" dirty="0"/>
        </a:p>
      </dsp:txBody>
      <dsp:txXfrm>
        <a:off x="350606" y="3664087"/>
        <a:ext cx="10105268" cy="458108"/>
      </dsp:txXfrm>
    </dsp:sp>
    <dsp:sp modelId="{E02544B8-863F-490B-BF54-AAC3A49FA8F8}">
      <dsp:nvSpPr>
        <dsp:cNvPr id="0" name=""/>
        <dsp:cNvSpPr/>
      </dsp:nvSpPr>
      <dsp:spPr>
        <a:xfrm>
          <a:off x="64288" y="3606824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1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3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8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3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5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2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8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6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1497B-A7A8-4468-BA60-0CC7AFE75E2D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6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706.03762" TargetMode="External"/><Relationship Id="rId3" Type="http://schemas.openxmlformats.org/officeDocument/2006/relationships/hyperlink" Target="https://www.researchgate.net/" TargetMode="External"/><Relationship Id="rId7" Type="http://schemas.openxmlformats.org/officeDocument/2006/relationships/hyperlink" Target="https://link.springer.com/article/10.1007/s10916-020-1531-6" TargetMode="External"/><Relationship Id="rId2" Type="http://schemas.openxmlformats.org/officeDocument/2006/relationships/hyperlink" Target="https://ieeexplore.iee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50462178_Bhagavad_Gita_and_Cognitive_Psychology" TargetMode="External"/><Relationship Id="rId11" Type="http://schemas.openxmlformats.org/officeDocument/2006/relationships/hyperlink" Target="https://www.paulekman.com/universal-emotions/" TargetMode="External"/><Relationship Id="rId5" Type="http://schemas.openxmlformats.org/officeDocument/2006/relationships/hyperlink" Target="https://arxiv.org/pdf/2303.08774" TargetMode="External"/><Relationship Id="rId10" Type="http://schemas.openxmlformats.org/officeDocument/2006/relationships/hyperlink" Target="https://www.cs.uic.edu/~liub/FBS/SentimentAnalysis-and-OpinionMining.pdf" TargetMode="External"/><Relationship Id="rId4" Type="http://schemas.openxmlformats.org/officeDocument/2006/relationships/hyperlink" Target="https://arxiv.org/" TargetMode="External"/><Relationship Id="rId9" Type="http://schemas.openxmlformats.org/officeDocument/2006/relationships/hyperlink" Target="https://arxiv.org/pdf/1810.04805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adaily.com/gita-02-48-explanation/" TargetMode="External"/><Relationship Id="rId3" Type="http://schemas.openxmlformats.org/officeDocument/2006/relationships/hyperlink" Target="https://ncert.nic.in/pdf/publication/journalsandperiodicals/journalofindianeducation/JIE-August-2021.pdf" TargetMode="External"/><Relationship Id="rId7" Type="http://schemas.openxmlformats.org/officeDocument/2006/relationships/hyperlink" Target="https://www.holy-bhagavad-gita.org/chapter/2/verse/48/" TargetMode="External"/><Relationship Id="rId2" Type="http://schemas.openxmlformats.org/officeDocument/2006/relationships/hyperlink" Target="https://ncert.nic.in/pdf/publication/journalsandperiodicals/indianeducationalreview/IER-January-2021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10440210/" TargetMode="External"/><Relationship Id="rId5" Type="http://schemas.openxmlformats.org/officeDocument/2006/relationships/hyperlink" Target="https://pubmed.ncbi.nlm.nih.gov/39147461/" TargetMode="External"/><Relationship Id="rId10" Type="http://schemas.openxmlformats.org/officeDocument/2006/relationships/hyperlink" Target="https://proceedings.neurips.cc/paper/2020/file/1457c0d6bfcb4967418bfb8ac142f64a-Paper.pdf" TargetMode="External"/><Relationship Id="rId4" Type="http://schemas.openxmlformats.org/officeDocument/2006/relationships/hyperlink" Target="https://hai.stanford.edu/news/exploring-the-dangers-of-ai-in-mental-health-care" TargetMode="External"/><Relationship Id="rId9" Type="http://schemas.openxmlformats.org/officeDocument/2006/relationships/hyperlink" Target="https://arxiv.org/abs/2005.1416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207624" y="4867950"/>
            <a:ext cx="463475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Saransh Patil          (0832CS221182)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Tushar Gawhade    (0832CS221213)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Vivek Rathore         (0832CS221228)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Yash Lade	         (0832CS221229)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723868" y="70338"/>
            <a:ext cx="8825777" cy="11720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IN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Chameli Devi Group of Institutions, Indore</a:t>
            </a: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Computer Science &amp; Engineering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0" y="35654"/>
            <a:ext cx="1722388" cy="1291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610" y="1859542"/>
            <a:ext cx="11957537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Major Project Synopsis Presentation 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Session: 2025-26 (VII SEM)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Krishna’s Lens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646" y="33821"/>
            <a:ext cx="1607383" cy="133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09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D998-6596-1B24-E52A-5B420D87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C29F-26BB-8D4D-5CCC-64DCEC33C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155065"/>
            <a:ext cx="9926320" cy="50533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fast-paced world, youth often struggle with anxiety and self-doubt after facing setbacks like failures or breakups. Inspired by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Gita’s principle of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Samatvam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(equanimity), Krishna’s Lens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app that helps users reframe life events through emotional, spiritual, and strategic perspectives.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Flutter-based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app generates constructive, multi-dimensional reflections on personal struggles. This helps users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anxiety, gain mental clarity, and grow resilient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Bridging timeless wisdom with cutting-edge AI, Krishna’s Lens offers a modern, scalable tool for emotional empowerment.</a:t>
            </a:r>
          </a:p>
          <a:p>
            <a:pPr marL="0" indent="0" algn="just">
              <a:lnSpc>
                <a:spcPct val="160000"/>
              </a:lnSpc>
              <a:buNone/>
              <a:defRPr sz="2000">
                <a:latin typeface="Times New Roman"/>
              </a:defRP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89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4F5B-1F08-6A12-DFD9-88850597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Reports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CA8DF51-64DD-C0FC-6B32-19B0C9A34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149" y="1825625"/>
            <a:ext cx="6181701" cy="4351338"/>
          </a:xfrm>
        </p:spPr>
      </p:pic>
    </p:spTree>
    <p:extLst>
      <p:ext uri="{BB962C8B-B14F-4D97-AF65-F5344CB8AC3E}">
        <p14:creationId xmlns:p14="http://schemas.microsoft.com/office/powerpoint/2010/main" val="424692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398C38B-FB50-AF5C-9988-B96BAD50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Reports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1CFA01B-99FB-C67F-E4FE-4045460DF9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735254"/>
              </p:ext>
            </p:extLst>
          </p:nvPr>
        </p:nvGraphicFramePr>
        <p:xfrm>
          <a:off x="838200" y="1514158"/>
          <a:ext cx="10515600" cy="22555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473874">
                  <a:extLst>
                    <a:ext uri="{9D8B030D-6E8A-4147-A177-3AD203B41FA5}">
                      <a16:colId xmlns:a16="http://schemas.microsoft.com/office/drawing/2014/main" val="3977830595"/>
                    </a:ext>
                  </a:extLst>
                </a:gridCol>
                <a:gridCol w="5041726">
                  <a:extLst>
                    <a:ext uri="{9D8B030D-6E8A-4147-A177-3AD203B41FA5}">
                      <a16:colId xmlns:a16="http://schemas.microsoft.com/office/drawing/2014/main" val="2742583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Data Point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Source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633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86% of Indian students report exam-related anxiety; 70% feel academic failure = life failure.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NCERT National Survey (2022)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32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Anxiety/depression rates among Indian youth rose by 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25% post-COVID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WHO India Mental Health Report (2023)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62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50% of global mental health disorders start by age 14.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Lancet Psychiatry (2021)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76695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FF5F13-CA0C-2663-02FA-842FB66DD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362598"/>
              </p:ext>
            </p:extLst>
          </p:nvPr>
        </p:nvGraphicFramePr>
        <p:xfrm>
          <a:off x="838200" y="4078922"/>
          <a:ext cx="10515600" cy="252984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473874">
                  <a:extLst>
                    <a:ext uri="{9D8B030D-6E8A-4147-A177-3AD203B41FA5}">
                      <a16:colId xmlns:a16="http://schemas.microsoft.com/office/drawing/2014/main" val="941210105"/>
                    </a:ext>
                  </a:extLst>
                </a:gridCol>
                <a:gridCol w="5041726">
                  <a:extLst>
                    <a:ext uri="{9D8B030D-6E8A-4147-A177-3AD203B41FA5}">
                      <a16:colId xmlns:a16="http://schemas.microsoft.com/office/drawing/2014/main" val="2357121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Evidence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Source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99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Cognitive Reframing (CBT)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 reduces anxiety by 50-60% in 8 weeks.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APA Clinical Practice Guidelines (2020)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886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Spiritual coping (e.g., Gita’s Samatvam) lowers stress biomarkers (cortisol) by 30%.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Journal of Religion and Health (2022)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55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Apps using reframing techniques see </a:t>
                      </a: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3x higher user retention</a:t>
                      </a:r>
                      <a:r>
                        <a:rPr lang="en-US">
                          <a:solidFill>
                            <a:schemeClr val="bg1"/>
                          </a:solidFill>
                          <a:effectLst/>
                        </a:rPr>
                        <a:t> vs. generic mindfulness apps.</a:t>
                      </a:r>
                    </a:p>
                  </a:txBody>
                  <a:tcPr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Berkeley Well-Being Institute (2023)</a:t>
                      </a:r>
                    </a:p>
                  </a:txBody>
                  <a:tcPr marL="76200" marR="76200" marT="76200" marB="7620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280769"/>
                  </a:ext>
                </a:extLst>
              </a:tr>
            </a:tbl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B673274C-7C7C-9299-C15C-1D850C6BC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216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87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79A1-2EE7-3937-2B70-47AC6A4B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089D-8122-DC31-C7A8-8640B1A0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Krishna’s Lens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mobile application designed to help youth reframe stressful life events in real time.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is inspired by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Gita’s principle of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Samatvam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(equanimity)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promoting balanced emotional response.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NLP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three reframed perspectives for each user-submitted event: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Emotional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(validates feelings)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Spiritual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(provides deeper meaning)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Strategic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(suggests constructive action)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 addresses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gap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 by making emotional support more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accessible, culturally relevant, and stigma-free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2501-41BA-19F3-9B33-554CF580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8893B3-2678-2B36-ABE4-717365254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5512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58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8EB3-3E9B-6CEE-75A5-7421A2A3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A090-DA5E-FCB2-AE7A-97EC7767C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see their problems from three different views – emotional, spiritual, and strategic.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stress and anxiety by giving calming and meaningful responses instantly.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support anytime, anywhere, without needing a therapist or counselor.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teach users how to handle life problems more wisely and positively.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culturally rooted website that connects Indian youth with Gita-based emotional balance.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5323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3838-672C-B6EA-3B38-4BCFBB98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3D9A9-0786-3CF1-A23C-D6BC377D7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Youth aged 15–30 facing emotional challenges like breakups, exam stress, or failure.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Support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type their problems; voice input and Hindi support will be added later.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Output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app provides three views (emotional, spiritual, strategic) for every situation.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add more lenses like community advice, mentor view, and meditation tools.</a:t>
            </a:r>
          </a:p>
          <a:p>
            <a:pPr algn="just">
              <a:defRPr sz="2000"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4463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DC17-D729-05A7-EA7F-50B3711D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95" y="118449"/>
            <a:ext cx="10515600" cy="7406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6DD27F-7D8C-5C92-0F76-421447DD9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371638"/>
              </p:ext>
            </p:extLst>
          </p:nvPr>
        </p:nvGraphicFramePr>
        <p:xfrm>
          <a:off x="838199" y="930667"/>
          <a:ext cx="10609612" cy="5263627"/>
        </p:xfrm>
        <a:graphic>
          <a:graphicData uri="http://schemas.openxmlformats.org/drawingml/2006/table">
            <a:tbl>
              <a:tblPr/>
              <a:tblGrid>
                <a:gridCol w="1475233">
                  <a:extLst>
                    <a:ext uri="{9D8B030D-6E8A-4147-A177-3AD203B41FA5}">
                      <a16:colId xmlns:a16="http://schemas.microsoft.com/office/drawing/2014/main" val="1183869786"/>
                    </a:ext>
                  </a:extLst>
                </a:gridCol>
                <a:gridCol w="2262329">
                  <a:extLst>
                    <a:ext uri="{9D8B030D-6E8A-4147-A177-3AD203B41FA5}">
                      <a16:colId xmlns:a16="http://schemas.microsoft.com/office/drawing/2014/main" val="4118294138"/>
                    </a:ext>
                  </a:extLst>
                </a:gridCol>
                <a:gridCol w="2628206">
                  <a:extLst>
                    <a:ext uri="{9D8B030D-6E8A-4147-A177-3AD203B41FA5}">
                      <a16:colId xmlns:a16="http://schemas.microsoft.com/office/drawing/2014/main" val="2217345277"/>
                    </a:ext>
                  </a:extLst>
                </a:gridCol>
                <a:gridCol w="2121922">
                  <a:extLst>
                    <a:ext uri="{9D8B030D-6E8A-4147-A177-3AD203B41FA5}">
                      <a16:colId xmlns:a16="http://schemas.microsoft.com/office/drawing/2014/main" val="3308791242"/>
                    </a:ext>
                  </a:extLst>
                </a:gridCol>
                <a:gridCol w="2121922">
                  <a:extLst>
                    <a:ext uri="{9D8B030D-6E8A-4147-A177-3AD203B41FA5}">
                      <a16:colId xmlns:a16="http://schemas.microsoft.com/office/drawing/2014/main" val="977812128"/>
                    </a:ext>
                  </a:extLst>
                </a:gridCol>
              </a:tblGrid>
              <a:tr h="197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Author(s), Year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Work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/ Key Idea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Link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0068"/>
                  </a:ext>
                </a:extLst>
              </a:tr>
              <a:tr h="607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Emotion-Aware Chatbots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voice + text for improved emotional understanding in chatbots.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emotion detection in Krishna Lens.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IEEE Xplore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30880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&amp; Singh,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AI-powered Spiritual Guidance Systems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scriptures with AI for mental wellness support.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Directly relevant for integrating Bhagavad Gita content.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ResearchGate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595429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Brown et al., 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for Personalized Wellbeing Support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GPT-style models helping with stress management &amp; empathy.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Inspires adaptive responses for user prompts.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arXiv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27452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OpenAI,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 Technical Report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multimodal reasoning &amp; human-aligned answers.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Backbone for generating contextual 3-lens responses.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OpenAI Report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105604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 et al., 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Bhagavad Gita and AI-based Resilience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Mapped verses of Gita to coping strategies.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spiritual grounding for your project.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ResearchGate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410635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&amp; Mehta,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Recognition in AI for Mental Health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emotion recognition for therapeutic chatbots.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emotional lens development.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Springer Link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93924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Vaswani et al., 2020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is All You Need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of GPT and modern emotion-aware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processing user text in Krishna Lens.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arXiv PDF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552914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Devlin et al., 2019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BERT: Deep Contextual Understanding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bidirectional transformers for better NLP.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improve accuracy in detecting context/emotions.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arXiv PDF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020666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et al., 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 Advances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Surveyed opinion mining techniques &amp; challenges.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emotion analysis pipeline.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UIC PDF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5240"/>
                  </a:ext>
                </a:extLst>
              </a:tr>
              <a:tr h="467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Ekman, 2016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Emotions Framework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Classified universal emotions (anger, joy, sadness, etc.).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Forms the base for mapping user feelings.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1"/>
                        </a:rPr>
                        <a:t>Paul Ekman Group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933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71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3505-9FDB-BF56-1144-CFB91B0A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73" y="18224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3313-1B15-2951-5AF5-A0B6303A9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808"/>
            <a:ext cx="10515600" cy="4912243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Emotion &amp; Spirituality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systems focus on emotion detection or chatbot interaction but rarely integrate emotional states with spiritual wisdom.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Personalized Multi-Perspective Guidance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chatbots provide generic replies; they do not deliver structured responses across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emotional, spiritual, and strategic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dimensions.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Contextual Religious/Philosophical Datasets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research works have utilized Bhagavad Gita verses as a dataset for AI-based guidance, leaving a gap in spiritually grounded emotional support.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Conversational Flexibility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AI tools are either formal (therapeutic chatbots) or casual (assistants) but lack a dual-mode system (casual + deep guidance).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&amp; Emotion Mapping Unexplored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has not adequately explored token-based analysis of prompts to map emotions and link them with suitable philosophical or motivational guidance.</a:t>
            </a:r>
          </a:p>
          <a:p>
            <a:pPr>
              <a:lnSpc>
                <a:spcPct val="11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936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B059-A78E-5F74-3A0A-208D212F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2C648-E879-6DC6-549B-1A7A3197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b="1" dirty="0"/>
              <a:t>Wysa</a:t>
            </a:r>
            <a:r>
              <a:rPr lang="en-US" sz="2000" dirty="0"/>
              <a:t>– AI Chat for Mental Health.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Lacks strategic or spiritual perspectives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b="1" dirty="0"/>
              <a:t>Youper</a:t>
            </a:r>
            <a:r>
              <a:rPr lang="en-US" sz="2000" dirty="0"/>
              <a:t>–Emotional Health Assistant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No cultural or spiritual insights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b="1" dirty="0"/>
              <a:t>Replika–</a:t>
            </a:r>
            <a:r>
              <a:rPr lang="en-US" sz="2000" dirty="0"/>
              <a:t> AI Companion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Not designed for event reframing or life coaching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4177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3A73-05E0-978B-7EB9-BEC0E990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2D9C-48EF-FC5F-9004-BCA2EFD44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Instant Reframing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GPT-4 to give 3 balanced views of any life event within seconds.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Relevance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Inspired by the Bhagavad Gita, making it meaningful and relatable for Indian youth.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Multi-Lens Approach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Emotional, spiritual, and strategic responses help users gain clarity and calm.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Simple and clean mobile design for easy access anytime, anywhere.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Judgement Zone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Offers private and supportive guidance without needing human interaction.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1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17EA-37B3-9C4C-3612-0B9B211B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AC8BB-775A-D175-9402-5EE727D2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160" y="1690688"/>
            <a:ext cx="10515600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1. Data Intake: User event text or voice input is captured via mobile UI.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2. Tone Detection: BERT‑based classifier labels emotion (sadness, anger, fear, etc.).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3. Lens Generation: GPT‑4 prompt template crafts Emotional, Spiritual, Strategic reframes.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4. Post‑Processing: Toxicity filter and readability check.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5. Delivery: Responses rendered with option to bookmark or journal.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6. Feedback Loop: User ratings fine‑tune prompt templates and model parameters.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7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6F90-8478-5BD0-32C6-A1EC9DAA5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667"/>
            <a:ext cx="10515600" cy="74506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A76189-47C6-3DD9-DAB4-3C85191ACE72}"/>
              </a:ext>
            </a:extLst>
          </p:cNvPr>
          <p:cNvSpPr/>
          <p:nvPr/>
        </p:nvSpPr>
        <p:spPr>
          <a:xfrm>
            <a:off x="1735666" y="1275821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F5A9DC-AC9D-6BB6-9BDC-1F755C21BA94}"/>
              </a:ext>
            </a:extLst>
          </p:cNvPr>
          <p:cNvSpPr/>
          <p:nvPr/>
        </p:nvSpPr>
        <p:spPr>
          <a:xfrm>
            <a:off x="4842935" y="1275821"/>
            <a:ext cx="2379132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Input</a:t>
            </a: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(Clean, Find Emotion)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0CFF3E-9276-98A2-DBA0-C5CEF1EE7147}"/>
              </a:ext>
            </a:extLst>
          </p:cNvPr>
          <p:cNvSpPr/>
          <p:nvPr/>
        </p:nvSpPr>
        <p:spPr>
          <a:xfrm>
            <a:off x="8593667" y="1275821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rgbClr val="49494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Relevant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(Verses, Advice)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9D3B16-650E-4F54-FE4F-0B8671A0EA46}"/>
              </a:ext>
            </a:extLst>
          </p:cNvPr>
          <p:cNvSpPr/>
          <p:nvPr/>
        </p:nvSpPr>
        <p:spPr>
          <a:xfrm>
            <a:off x="4842935" y="2606409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Casual?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(Just chat)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C4280D-A026-6A39-05AB-38BEA001DCB4}"/>
              </a:ext>
            </a:extLst>
          </p:cNvPr>
          <p:cNvSpPr/>
          <p:nvPr/>
        </p:nvSpPr>
        <p:spPr>
          <a:xfrm>
            <a:off x="8593667" y="2632372"/>
            <a:ext cx="2065866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Guided?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(Need help)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124957-24CA-00CE-B15B-674A1F7B0DE5}"/>
              </a:ext>
            </a:extLst>
          </p:cNvPr>
          <p:cNvSpPr/>
          <p:nvPr/>
        </p:nvSpPr>
        <p:spPr>
          <a:xfrm>
            <a:off x="4842935" y="3988923"/>
            <a:ext cx="5994400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Helpful Response</a:t>
            </a:r>
          </a:p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 Lenses: Emotional, Spiritual, Strategic)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455E20-48DB-72F5-F1D5-953FC8AE521C}"/>
              </a:ext>
            </a:extLst>
          </p:cNvPr>
          <p:cNvSpPr/>
          <p:nvPr/>
        </p:nvSpPr>
        <p:spPr>
          <a:xfrm>
            <a:off x="6671733" y="5475288"/>
            <a:ext cx="1701800" cy="10017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rgbClr val="4949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Answer To The User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C1A36B02-B117-5F9A-85C7-FCD203C93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044"/>
            <a:ext cx="22442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5F8B53-A1AF-4A86-D09D-9885EA348C4D}"/>
              </a:ext>
            </a:extLst>
          </p:cNvPr>
          <p:cNvCxnSpPr/>
          <p:nvPr/>
        </p:nvCxnSpPr>
        <p:spPr>
          <a:xfrm>
            <a:off x="3801532" y="1812793"/>
            <a:ext cx="1016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E8D3EE-D22D-FC2E-4B8A-0A8E49285A09}"/>
              </a:ext>
            </a:extLst>
          </p:cNvPr>
          <p:cNvCxnSpPr>
            <a:cxnSpLocks/>
          </p:cNvCxnSpPr>
          <p:nvPr/>
        </p:nvCxnSpPr>
        <p:spPr>
          <a:xfrm>
            <a:off x="7332133" y="1745986"/>
            <a:ext cx="1168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45EF7D-AE97-F20C-4D5D-1EB34C9A6E85}"/>
              </a:ext>
            </a:extLst>
          </p:cNvPr>
          <p:cNvCxnSpPr>
            <a:cxnSpLocks/>
          </p:cNvCxnSpPr>
          <p:nvPr/>
        </p:nvCxnSpPr>
        <p:spPr>
          <a:xfrm>
            <a:off x="5850465" y="2277533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662721-D62C-6DD8-5203-C8010EDB6275}"/>
              </a:ext>
            </a:extLst>
          </p:cNvPr>
          <p:cNvCxnSpPr>
            <a:cxnSpLocks/>
          </p:cNvCxnSpPr>
          <p:nvPr/>
        </p:nvCxnSpPr>
        <p:spPr>
          <a:xfrm>
            <a:off x="9694332" y="2294069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81279D-41AE-994C-46F2-AA94C337AC05}"/>
              </a:ext>
            </a:extLst>
          </p:cNvPr>
          <p:cNvCxnSpPr>
            <a:cxnSpLocks/>
          </p:cNvCxnSpPr>
          <p:nvPr/>
        </p:nvCxnSpPr>
        <p:spPr>
          <a:xfrm>
            <a:off x="5875868" y="3676583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9A2E06-24DB-9BC0-DCA2-C7A98297057A}"/>
              </a:ext>
            </a:extLst>
          </p:cNvPr>
          <p:cNvCxnSpPr>
            <a:cxnSpLocks/>
          </p:cNvCxnSpPr>
          <p:nvPr/>
        </p:nvCxnSpPr>
        <p:spPr>
          <a:xfrm>
            <a:off x="9702797" y="3673770"/>
            <a:ext cx="0" cy="3123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F1F6369-A8B1-3AF5-B15C-396A4E6C1B4C}"/>
              </a:ext>
            </a:extLst>
          </p:cNvPr>
          <p:cNvCxnSpPr>
            <a:cxnSpLocks/>
          </p:cNvCxnSpPr>
          <p:nvPr/>
        </p:nvCxnSpPr>
        <p:spPr>
          <a:xfrm>
            <a:off x="7636932" y="4990635"/>
            <a:ext cx="0" cy="4846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276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553E-55B4-E69F-AE72-B73DBA69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42D4C-E502-3FA3-E997-75FFF81E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Frontend:</a:t>
            </a:r>
            <a:r>
              <a:rPr lang="en-US" dirty="0"/>
              <a:t> Flutter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Backend:</a:t>
            </a:r>
            <a:r>
              <a:rPr lang="en-US" dirty="0"/>
              <a:t> Node.js 20, Firebase Auth + </a:t>
            </a:r>
            <a:r>
              <a:rPr lang="en-US" dirty="0" err="1"/>
              <a:t>Firestore</a:t>
            </a:r>
            <a:r>
              <a:rPr lang="en-US" dirty="0"/>
              <a:t>, Cloud Functions for inference.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LLM models: </a:t>
            </a:r>
            <a:r>
              <a:rPr lang="en-US" dirty="0"/>
              <a:t>OpenAI GPT‑4/Llama/Gemini via secure API; fallback to on‑device distilled model.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Security:</a:t>
            </a:r>
            <a:r>
              <a:rPr lang="en-US" dirty="0"/>
              <a:t> End‑to‑end TLS, AES‑256 encrypted event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647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2A621-CC7B-5917-E9BB-785775B72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Training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0EFE-F8EE-EBFC-F874-2D8258F74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ISEAR,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DailyDialog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Bhagavad Gita texts, CBT reframing datasets, crowdsourced user events.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20k–50k examples for emotion classifier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10k–30k examples per lens for reframing (scalable with GPT help)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Public datasets + GPT-assisted generation + human annotation.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feedback → refine prompts → expand dataset → retrain</a:t>
            </a:r>
          </a:p>
        </p:txBody>
      </p:sp>
    </p:spTree>
    <p:extLst>
      <p:ext uri="{BB962C8B-B14F-4D97-AF65-F5344CB8AC3E}">
        <p14:creationId xmlns:p14="http://schemas.microsoft.com/office/powerpoint/2010/main" val="945375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0492-97A4-EA83-FA74-BB11D727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C125-712F-EF5E-0477-2979CDD6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Anxiety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feel 25–35% less stress after using the app regularly.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Decision-Making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Strategic lens helps users respond wisely to tough situations.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Self-Awareness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Spiritual and emotional views promote inner understanding.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User Engagement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 becomes a daily emotional support tool for youth.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Social Impact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Promotes mental well-being using Indian values and AI.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6715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503A-AE2E-F3E6-17C5-B8BF4BEAD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DC8EE1-211D-3A25-C780-C9B518552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3832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492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B55C-70B6-D741-22E9-4619A4E1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A0CBDA-5544-134E-B3FD-716002429B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5596987"/>
              </p:ext>
            </p:extLst>
          </p:nvPr>
        </p:nvGraphicFramePr>
        <p:xfrm>
          <a:off x="895149" y="2172494"/>
          <a:ext cx="10458651" cy="4297680"/>
        </p:xfrm>
        <a:graphic>
          <a:graphicData uri="http://schemas.openxmlformats.org/drawingml/2006/table">
            <a:tbl>
              <a:tblPr/>
              <a:tblGrid>
                <a:gridCol w="5200851">
                  <a:extLst>
                    <a:ext uri="{9D8B030D-6E8A-4147-A177-3AD203B41FA5}">
                      <a16:colId xmlns:a16="http://schemas.microsoft.com/office/drawing/2014/main" val="8030663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28418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/ 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519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NCERT Academic Stress, 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NCERT Journal PDF</a:t>
                      </a:r>
                      <a:r>
                        <a:rPr lang="da-DK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da-DK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JIE-August-2021 PDF</a:t>
                      </a:r>
                      <a:endParaRPr lang="da-DK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343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Stanford HAI on AI Therapy Risks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Exploring the Dangers of AI in Mental Health Care (Stanford HAI)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287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Lancet Youth Mental Health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The Lancet Psychiatry Commission on Youth Mental Health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07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Reframing Meta-analysis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Cognitive Restructuring and Psychotherapy Outcome: A Meta-Analysis (PMC)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854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Bhagavad Gita 2.48 Verse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Holy-Bhagavad-Gita.org Verse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GitaDaily Explanation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31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Models Few-shot 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arXiv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 – Language Models are Few-Shot Learners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NeurIPS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 PDF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94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01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</TotalTime>
  <Words>1704</Words>
  <Application>Microsoft Office PowerPoint</Application>
  <PresentationFormat>Widescreen</PresentationFormat>
  <Paragraphs>199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Mental Health Reports</vt:lpstr>
      <vt:lpstr>Mental Health Reports</vt:lpstr>
      <vt:lpstr>Introduction</vt:lpstr>
      <vt:lpstr>Problem Statement</vt:lpstr>
      <vt:lpstr>Objectives</vt:lpstr>
      <vt:lpstr>Scope</vt:lpstr>
      <vt:lpstr>Literature Review</vt:lpstr>
      <vt:lpstr>Research Gap</vt:lpstr>
      <vt:lpstr>Existing Solutions</vt:lpstr>
      <vt:lpstr>Proposed System Advantages</vt:lpstr>
      <vt:lpstr>Methodology</vt:lpstr>
      <vt:lpstr>System Block Diagram</vt:lpstr>
      <vt:lpstr>Technical Details</vt:lpstr>
      <vt:lpstr>Dataset &amp; Training Strategy</vt:lpstr>
      <vt:lpstr>Expected Outcomes</vt:lpstr>
      <vt:lpstr>Reference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vivek</dc:creator>
  <cp:lastModifiedBy>Vivek Rathore</cp:lastModifiedBy>
  <cp:revision>163</cp:revision>
  <dcterms:created xsi:type="dcterms:W3CDTF">2018-08-23T06:16:55Z</dcterms:created>
  <dcterms:modified xsi:type="dcterms:W3CDTF">2025-08-28T19:17:37Z</dcterms:modified>
</cp:coreProperties>
</file>